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147377429" r:id="rId2"/>
    <p:sldId id="2147377430" r:id="rId3"/>
    <p:sldId id="2147377433" r:id="rId4"/>
    <p:sldId id="2147377436" r:id="rId5"/>
    <p:sldId id="2147377437" r:id="rId6"/>
    <p:sldId id="2147377439" r:id="rId7"/>
    <p:sldId id="2147377443" r:id="rId8"/>
    <p:sldId id="2147377449" r:id="rId9"/>
    <p:sldId id="2147377450" r:id="rId10"/>
    <p:sldId id="2147377451" r:id="rId11"/>
    <p:sldId id="2147377457" r:id="rId12"/>
    <p:sldId id="2147377458" r:id="rId13"/>
    <p:sldId id="2147377468" r:id="rId14"/>
    <p:sldId id="2147377444" r:id="rId15"/>
    <p:sldId id="2147377460" r:id="rId16"/>
    <p:sldId id="2147377463" r:id="rId17"/>
    <p:sldId id="2147377470" r:id="rId18"/>
    <p:sldId id="2147377472" r:id="rId19"/>
    <p:sldId id="2147377476" r:id="rId20"/>
    <p:sldId id="2147377477" r:id="rId21"/>
    <p:sldId id="2147377479" r:id="rId22"/>
    <p:sldId id="2147377471" r:id="rId23"/>
    <p:sldId id="2147377484" r:id="rId24"/>
    <p:sldId id="2147377485" r:id="rId25"/>
    <p:sldId id="2147377487" r:id="rId26"/>
    <p:sldId id="2147377489" r:id="rId27"/>
    <p:sldId id="2147377446" r:id="rId28"/>
    <p:sldId id="2147377491" r:id="rId29"/>
    <p:sldId id="2147377492" r:id="rId30"/>
    <p:sldId id="2147377493" r:id="rId31"/>
    <p:sldId id="2147377440" r:id="rId32"/>
    <p:sldId id="2147377441" r:id="rId33"/>
  </p:sldIdLst>
  <p:sldSz cx="19799300" cy="11160125"/>
  <p:notesSz cx="6858000" cy="9144000"/>
  <p:embeddedFontLst>
    <p:embeddedFont>
      <p:font typeface="T-Sans" pitchFamily="2" charset="77"/>
      <p:regular r:id="rId36"/>
      <p:bold r:id="rId37"/>
    </p:embeddedFont>
    <p:embeddedFont>
      <p:font typeface="T-Sans Medium" pitchFamily="2" charset="77"/>
      <p:regular r:id="rId38"/>
    </p:embeddedFont>
    <p:embeddedFont>
      <p:font typeface="Tinkoff Sans" panose="02000506050000020004" pitchFamily="2" charset="77"/>
      <p:regular r:id="rId39"/>
      <p:bold r:id="rId40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521415D9-36F7-43E2-AB2F-B90AF26B5E84}">
      <p14:sectionLst xmlns:p14="http://schemas.microsoft.com/office/powerpoint/2010/main">
        <p14:section name="ПРЕЗЕНТАЦИЯ" id="{F613C87D-512C-7147-9C57-4A9F89B24A1B}">
          <p14:sldIdLst>
            <p14:sldId id="2147377429"/>
            <p14:sldId id="2147377430"/>
            <p14:sldId id="2147377433"/>
            <p14:sldId id="2147377436"/>
            <p14:sldId id="2147377437"/>
            <p14:sldId id="2147377439"/>
            <p14:sldId id="2147377443"/>
            <p14:sldId id="2147377449"/>
            <p14:sldId id="2147377450"/>
            <p14:sldId id="2147377451"/>
            <p14:sldId id="2147377457"/>
            <p14:sldId id="2147377458"/>
            <p14:sldId id="2147377468"/>
            <p14:sldId id="2147377444"/>
            <p14:sldId id="2147377460"/>
            <p14:sldId id="2147377463"/>
            <p14:sldId id="2147377470"/>
            <p14:sldId id="2147377472"/>
            <p14:sldId id="2147377476"/>
            <p14:sldId id="2147377477"/>
            <p14:sldId id="2147377479"/>
            <p14:sldId id="2147377471"/>
            <p14:sldId id="2147377484"/>
            <p14:sldId id="2147377485"/>
            <p14:sldId id="2147377487"/>
            <p14:sldId id="2147377489"/>
            <p14:sldId id="2147377446"/>
            <p14:sldId id="2147377491"/>
            <p14:sldId id="2147377492"/>
            <p14:sldId id="2147377493"/>
            <p14:sldId id="2147377440"/>
            <p14:sldId id="2147377441"/>
          </p14:sldIdLst>
        </p14:section>
      </p14:sectionLst>
    </p:ex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D5"/>
    <a:srgbClr val="E6F3D4"/>
    <a:srgbClr val="FA9174"/>
    <a:srgbClr val="FFBFA3"/>
    <a:srgbClr val="F5F5F6"/>
    <a:srgbClr val="D2D5DB"/>
    <a:srgbClr val="D8DADD"/>
    <a:srgbClr val="B5B1EF"/>
    <a:srgbClr val="FFD9C9"/>
    <a:srgbClr val="E9F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0"/>
    <p:restoredTop sz="80783"/>
  </p:normalViewPr>
  <p:slideViewPr>
    <p:cSldViewPr snapToGrid="0" snapToObjects="1" showGuides="1">
      <p:cViewPr varScale="1">
        <p:scale>
          <a:sx n="72" d="100"/>
          <a:sy n="72" d="100"/>
        </p:scale>
        <p:origin x="1248" y="232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30.07.2026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Всем привет, тайминги </a:t>
            </a:r>
            <a:r>
              <a:rPr lang="ru-RU" dirty="0" err="1"/>
              <a:t>сажтые</a:t>
            </a:r>
            <a:r>
              <a:rPr lang="ru-RU" dirty="0"/>
              <a:t>, какие-то события придется форсировать. </a:t>
            </a:r>
          </a:p>
          <a:p>
            <a:r>
              <a:rPr lang="ru-RU" dirty="0"/>
              <a:t>И говоря о форсировании событий – буквально пара слов обо мне.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3911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Кратко. На этом все.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От себя хотел бы сказать, </a:t>
            </a:r>
            <a:r>
              <a:rPr lang="ru-RU" dirty="0">
                <a:effectLst/>
                <a:latin typeface="Helvetica Neue" panose="02000503000000020004" pitchFamily="2" charset="0"/>
              </a:rPr>
              <a:t> что очень приятно видеть живые лица, а не бездушные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аватарки</a:t>
            </a:r>
            <a:r>
              <a:rPr lang="ru-RU" dirty="0">
                <a:effectLst/>
                <a:latin typeface="Helvetica Neue" panose="02000503000000020004" pitchFamily="2" charset="0"/>
              </a:rPr>
              <a:t> с подписями в толке.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  <a:latin typeface="Helvetica Neue" panose="02000503000000020004" pitchFamily="2" charset="0"/>
              </a:rPr>
              <a:t>Рад видеть, как тех, с кем я уже знаком, так и тех, кого я вижу впервые. Приятно, наконец-таки, познакомиться с вами вживую.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  <a:latin typeface="Helvetica Neue" panose="02000503000000020004" pitchFamily="2" charset="0"/>
              </a:rPr>
              <a:t>Давайте начинать.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34360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такое мемы – может ответить каждый. Если интересно, то можете ознакомиться с определениями из</a:t>
            </a:r>
            <a:r>
              <a:rPr lang="en-US" dirty="0"/>
              <a:t> Cambridge</a:t>
            </a:r>
            <a:r>
              <a:rPr lang="ru-RU" dirty="0"/>
              <a:t> Университета. </a:t>
            </a:r>
          </a:p>
          <a:p>
            <a:r>
              <a:rPr lang="ru-RU" dirty="0"/>
              <a:t>Я же предлагаю задаться гораздо более философским вопросом – зачем нам с вами мемы?</a:t>
            </a:r>
          </a:p>
          <a:p>
            <a:r>
              <a:rPr lang="ru-RU" dirty="0"/>
              <a:t>1. Разрядка для ума. Не самая лучшая, но скоротать время и быстро переключить контекст позволит. Работа у нас умственная, нам это необходимо.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2. Два примера в вакууме – знакомство с командой (ваше специфическое чувство юмора, пригласят в командировку в МСК, чтобы познакомиться) и тревожное и напряженное решение инцидента на </a:t>
            </a:r>
            <a:r>
              <a:rPr lang="ru-RU" dirty="0" err="1"/>
              <a:t>проде</a:t>
            </a:r>
            <a:r>
              <a:rPr lang="ru-RU" dirty="0"/>
              <a:t>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  <a:latin typeface="Helvetica Neue" panose="02000503000000020004" pitchFamily="2" charset="0"/>
              </a:rPr>
              <a:t>Если у вас по жизни есть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мемный</a:t>
            </a:r>
            <a:r>
              <a:rPr lang="ru-RU" dirty="0">
                <a:effectLst/>
                <a:latin typeface="Helvetica Neue" panose="02000503000000020004" pitchFamily="2" charset="0"/>
              </a:rPr>
              <a:t> пак на все случаи жизни, то понятное дело, что вам по жизни будет гораздо проще легче нежели чем без него.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  <a:latin typeface="Helvetica Neue" panose="02000503000000020004" pitchFamily="2" charset="0"/>
              </a:rPr>
              <a:t>3. </a:t>
            </a:r>
            <a:r>
              <a:rPr lang="ru-RU" sz="14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в каждой шутке только доля шутки. 99</a:t>
            </a:r>
            <a:r>
              <a:rPr lang="en-US" sz="14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% - </a:t>
            </a:r>
            <a:r>
              <a:rPr lang="ru-RU" sz="14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реакция на негативные и не самые позитивные ситуации из повседневной жизни. Мы с вами можем и посмеяться, и научиться на этом негативном опыте других людей и понять,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как не стать </a:t>
            </a:r>
            <a:r>
              <a:rPr lang="ru-RU" sz="1400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гланвым</a:t>
            </a:r>
            <a:r>
              <a:rPr lang="ru-RU" sz="14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 действующим лицом мема. </a:t>
            </a:r>
            <a:endParaRPr lang="en-US" sz="14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chemeClr val="accent2"/>
              </a:solidFill>
              <a:effectLst/>
              <a:latin typeface="T-Sans" pitchFamily="2" charset="0"/>
              <a:ea typeface="T-Sans" pitchFamily="2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 err="1">
                <a:solidFill>
                  <a:schemeClr val="accent2"/>
                </a:solidFill>
                <a:effectLst/>
                <a:latin typeface="T-Sans" pitchFamily="2" charset="0"/>
                <a:ea typeface="T-Sans" pitchFamily="2" charset="0"/>
              </a:rPr>
              <a:t>Дуальность</a:t>
            </a:r>
            <a:r>
              <a:rPr lang="ru-RU" sz="1400" dirty="0">
                <a:solidFill>
                  <a:schemeClr val="accent2"/>
                </a:solidFill>
                <a:effectLst/>
                <a:latin typeface="T-Sans" pitchFamily="2" charset="0"/>
                <a:ea typeface="T-Sans" pitchFamily="2" charset="0"/>
              </a:rPr>
              <a:t> мемов. 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23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Чем </a:t>
            </a:r>
            <a:r>
              <a:rPr lang="ru-RU" dirty="0" err="1"/>
              <a:t>шакальнее</a:t>
            </a:r>
            <a:r>
              <a:rPr lang="ru-RU" dirty="0"/>
              <a:t> мемы, тем они смешнее. Если 8 из 10 – то это вообще классика и раритет, он может быть даже успел побывать у кого-то на флэшке. И сегодня таких мемов будет достаточно много </a:t>
            </a:r>
            <a:r>
              <a:rPr lang="en-US" dirty="0">
                <a:sym typeface="Wingdings" pitchFamily="2" charset="2"/>
              </a:rPr>
              <a:t></a:t>
            </a:r>
            <a:endParaRPr lang="ru-RU" dirty="0"/>
          </a:p>
          <a:p>
            <a:r>
              <a:rPr lang="ru-RU" dirty="0"/>
              <a:t>Призы – два главных атрибута любого разработчика – чистые носки и настольная книга </a:t>
            </a:r>
            <a:r>
              <a:rPr lang="en-US" dirty="0"/>
              <a:t>“</a:t>
            </a:r>
            <a:r>
              <a:rPr lang="ru-RU" dirty="0"/>
              <a:t>Разработка модов на питоне</a:t>
            </a:r>
            <a:r>
              <a:rPr lang="en-US" dirty="0"/>
              <a:t>’</a:t>
            </a:r>
            <a:r>
              <a:rPr lang="ru-RU" dirty="0"/>
              <a:t>. Если хотите стать специалистом и </a:t>
            </a:r>
            <a:r>
              <a:rPr lang="ru-RU" dirty="0" err="1"/>
              <a:t>лутать</a:t>
            </a:r>
            <a:r>
              <a:rPr lang="ru-RU" dirty="0"/>
              <a:t> 300кк/</a:t>
            </a:r>
            <a:r>
              <a:rPr lang="ru-RU" dirty="0" err="1"/>
              <a:t>нс</a:t>
            </a:r>
            <a:r>
              <a:rPr lang="ru-RU" dirty="0"/>
              <a:t>, то это </a:t>
            </a:r>
            <a:r>
              <a:rPr lang="ru-RU" dirty="0" err="1"/>
              <a:t>маст</a:t>
            </a:r>
            <a:r>
              <a:rPr lang="ru-RU" dirty="0"/>
              <a:t> </a:t>
            </a:r>
            <a:r>
              <a:rPr lang="ru-RU" dirty="0" err="1"/>
              <a:t>хэв</a:t>
            </a:r>
            <a:r>
              <a:rPr lang="ru-RU" dirty="0"/>
              <a:t>. </a:t>
            </a:r>
          </a:p>
          <a:p>
            <a:r>
              <a:rPr lang="ru-RU" dirty="0"/>
              <a:t>Посмотрите на меня – у меня не было этой книги, и где я в итоге оказался</a:t>
            </a:r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384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ru-RU" dirty="0" err="1"/>
              <a:t>Пж</a:t>
            </a:r>
            <a:r>
              <a:rPr lang="ru-RU" dirty="0"/>
              <a:t>, без пен-тестов и тестирования, бот и так на ладан дышит</a:t>
            </a:r>
          </a:p>
          <a:p>
            <a:pPr marL="342900" indent="-342900">
              <a:buAutoNum type="arabicPeriod"/>
            </a:pPr>
            <a:r>
              <a:rPr lang="ru-RU" dirty="0"/>
              <a:t>Кому интересно – скину исходники, а самое главное – есть история моего </a:t>
            </a:r>
            <a:r>
              <a:rPr lang="ru-RU" dirty="0" err="1"/>
              <a:t>ревью</a:t>
            </a:r>
            <a:r>
              <a:rPr lang="ru-RU" dirty="0"/>
              <a:t> кода, который написал ИИ. К теме дебатов, и к тому, на сколько ММ опасная штука в не самых умелых руках.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8214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9233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Вкусно кормят. Два волка - один говорит спать, второй есть.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15489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тех, кто к нам пришел в этом или позапрошлом году. Надеюсь, что вы свою долю удовольствия получили. </a:t>
            </a:r>
          </a:p>
          <a:p>
            <a:r>
              <a:rPr lang="ru-RU" dirty="0"/>
              <a:t>НО, КР – очень важный процесс, который позволяет улучшать ваши навыки – как за счет просмотра чужого кода, так и за счет комментариев, что вам оставляют коллеги. </a:t>
            </a:r>
          </a:p>
          <a:p>
            <a:r>
              <a:rPr lang="ru-RU" dirty="0"/>
              <a:t>И не забывайте, что комментарии – это часто призыв к обсуждению, а не истина в последней инстанции. </a:t>
            </a:r>
          </a:p>
          <a:p>
            <a:endParaRPr lang="ru-RU" dirty="0"/>
          </a:p>
          <a:p>
            <a:r>
              <a:rPr lang="ru-RU" dirty="0"/>
              <a:t>ИИ до того, как завезли ИИ.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54214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Классическая притча во </a:t>
            </a:r>
            <a:r>
              <a:rPr lang="ru-RU" dirty="0" err="1"/>
              <a:t>изыцах</a:t>
            </a:r>
            <a:r>
              <a:rPr lang="ru-RU" dirty="0"/>
              <a:t>. Не забывайте, что над проектом </a:t>
            </a:r>
            <a:r>
              <a:rPr lang="ru-RU" dirty="0" err="1"/>
              <a:t>краптите</a:t>
            </a:r>
            <a:r>
              <a:rPr lang="ru-RU" dirty="0"/>
              <a:t> не только вы, но и много еще других людей, в том числе и </a:t>
            </a:r>
            <a:r>
              <a:rPr lang="en-US" dirty="0"/>
              <a:t>SRE. </a:t>
            </a:r>
          </a:p>
          <a:p>
            <a:r>
              <a:rPr lang="ru-RU" dirty="0"/>
              <a:t>Рассказать про мартышку. Звонок в 12 ночи не добавляет любви к тем, из-за кого мартышка мне позвонила. </a:t>
            </a:r>
          </a:p>
          <a:p>
            <a:r>
              <a:rPr lang="ru-RU" dirty="0"/>
              <a:t>Самое главное – в худшем случае это сизифов труд, потому что потом, в итоге, </a:t>
            </a:r>
            <a:r>
              <a:rPr lang="en-US" dirty="0"/>
              <a:t>SRE </a:t>
            </a:r>
            <a:r>
              <a:rPr lang="ru-RU" dirty="0"/>
              <a:t>это все откатит. </a:t>
            </a:r>
          </a:p>
          <a:p>
            <a:endParaRPr lang="ru-RU" dirty="0"/>
          </a:p>
          <a:p>
            <a:r>
              <a:rPr lang="ru-RU" dirty="0"/>
              <a:t>Закон Мерфи.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97723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разговору о релизах. Это, снова же, очень </a:t>
            </a:r>
            <a:r>
              <a:rPr lang="ru-RU" dirty="0" err="1"/>
              <a:t>релетабл</a:t>
            </a:r>
            <a:r>
              <a:rPr lang="ru-RU" dirty="0"/>
              <a:t> мем – мой бывший </a:t>
            </a:r>
            <a:r>
              <a:rPr lang="ru-RU" dirty="0" err="1"/>
              <a:t>продакт</a:t>
            </a:r>
            <a:r>
              <a:rPr lang="ru-RU" dirty="0"/>
              <a:t> очень его любит. </a:t>
            </a:r>
          </a:p>
          <a:p>
            <a:r>
              <a:rPr lang="ru-RU" dirty="0"/>
              <a:t>Проблема в том, что если в команде недостаточно хорошо выстроены процессы, то каждый релиз, это та еще боль. </a:t>
            </a:r>
          </a:p>
          <a:p>
            <a:r>
              <a:rPr lang="ru-RU" dirty="0"/>
              <a:t>Выход – чините процессы, реализуйте в проекте </a:t>
            </a:r>
            <a:r>
              <a:rPr lang="en-US" dirty="0"/>
              <a:t>CI/CD. </a:t>
            </a:r>
            <a:r>
              <a:rPr lang="ru-RU" dirty="0"/>
              <a:t>Не будем углубляться в детали, да и </a:t>
            </a:r>
            <a:r>
              <a:rPr lang="ru-RU" dirty="0" err="1"/>
              <a:t>большиснтво</a:t>
            </a:r>
            <a:r>
              <a:rPr lang="ru-RU" dirty="0"/>
              <a:t> уже и так знают, что это такое, но не забывайте, что </a:t>
            </a:r>
            <a:r>
              <a:rPr lang="en-US" dirty="0"/>
              <a:t>CI/CD – </a:t>
            </a:r>
            <a:r>
              <a:rPr lang="ru-RU" dirty="0"/>
              <a:t>не серебряная пуля. </a:t>
            </a:r>
          </a:p>
          <a:p>
            <a:r>
              <a:rPr lang="ru-RU" dirty="0"/>
              <a:t>И интегрировать его в проект может быть достаточно сложно, как и в последствии поддерживать свои </a:t>
            </a:r>
            <a:r>
              <a:rPr lang="ru-RU" dirty="0" err="1"/>
              <a:t>пайпики</a:t>
            </a:r>
            <a:r>
              <a:rPr lang="ru-RU" dirty="0"/>
              <a:t> зелеными. </a:t>
            </a:r>
          </a:p>
          <a:p>
            <a:endParaRPr lang="ru-RU" dirty="0"/>
          </a:p>
          <a:p>
            <a:r>
              <a:rPr lang="ru-RU" dirty="0"/>
              <a:t>Ну и говоря, про </a:t>
            </a:r>
            <a:r>
              <a:rPr lang="ru-RU" dirty="0" err="1"/>
              <a:t>пайпики</a:t>
            </a:r>
            <a:r>
              <a:rPr lang="en-US" dirty="0"/>
              <a:t>: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8250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Попа боль всех разработчиков в этом году. Ко мне приходили с падающими пайпами и ни раз. </a:t>
            </a:r>
          </a:p>
          <a:p>
            <a:r>
              <a:rPr lang="ru-RU" dirty="0"/>
              <a:t>Тут рекомендация одна – либо докидывайте ресурсы, либо оптимизируйте пайпы.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5434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Ну и вишенка на торте. </a:t>
            </a:r>
          </a:p>
          <a:p>
            <a:r>
              <a:rPr lang="ru-RU" dirty="0"/>
              <a:t>Чтобы такого не допускать, на 1-1 своему </a:t>
            </a:r>
            <a:r>
              <a:rPr lang="ru-RU" dirty="0" err="1"/>
              <a:t>лиду</a:t>
            </a:r>
            <a:r>
              <a:rPr lang="ru-RU" dirty="0"/>
              <a:t> о своей второй, тайной личности, не говорите.</a:t>
            </a:r>
          </a:p>
          <a:p>
            <a:r>
              <a:rPr lang="ru-RU" dirty="0"/>
              <a:t>А то я в свое время так проговорился, и теперь все мои 21 личность батрачат за целую команду разработки. Вместо того, чтобы сниматься в новой части </a:t>
            </a:r>
            <a:r>
              <a:rPr lang="ru-RU" dirty="0" err="1"/>
              <a:t>филма</a:t>
            </a:r>
            <a:r>
              <a:rPr lang="ru-RU" dirty="0"/>
              <a:t> Сплит. </a:t>
            </a:r>
          </a:p>
        </p:txBody>
      </p:sp>
    </p:spTree>
    <p:extLst>
      <p:ext uri="{BB962C8B-B14F-4D97-AF65-F5344CB8AC3E}">
        <p14:creationId xmlns:p14="http://schemas.microsoft.com/office/powerpoint/2010/main" val="3027241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Классика жанра, но только если до вас исходный код писал индус. Самое неприятное, если автор ты. У меня такое было, но я вспоминаю, что у меня 21 личность, и успокаиваюсь. </a:t>
            </a:r>
          </a:p>
          <a:p>
            <a:r>
              <a:rPr lang="ru-RU" dirty="0"/>
              <a:t>Чтобы такого избежать – не забывайте про все те смешные акронимы, что придумали </a:t>
            </a:r>
            <a:r>
              <a:rPr lang="ru-RU" dirty="0" err="1"/>
              <a:t>пограмисты</a:t>
            </a:r>
            <a:r>
              <a:rPr lang="ru-RU" dirty="0"/>
              <a:t> до вас – </a:t>
            </a:r>
            <a:r>
              <a:rPr lang="ru-RU" dirty="0" err="1"/>
              <a:t>кисс</a:t>
            </a:r>
            <a:r>
              <a:rPr lang="ru-RU" dirty="0"/>
              <a:t>, </a:t>
            </a:r>
            <a:r>
              <a:rPr lang="ru-RU" dirty="0" err="1"/>
              <a:t>писс</a:t>
            </a:r>
            <a:r>
              <a:rPr lang="ru-RU" dirty="0"/>
              <a:t>, драй, </a:t>
            </a:r>
            <a:r>
              <a:rPr lang="ru-RU" dirty="0" err="1"/>
              <a:t>солид</a:t>
            </a:r>
            <a:r>
              <a:rPr lang="ru-RU" dirty="0"/>
              <a:t>. Ну и код </a:t>
            </a:r>
            <a:r>
              <a:rPr lang="ru-RU" dirty="0" err="1"/>
              <a:t>ревью</a:t>
            </a:r>
            <a:r>
              <a:rPr lang="ru-RU" dirty="0"/>
              <a:t>, само собой. </a:t>
            </a:r>
          </a:p>
        </p:txBody>
      </p:sp>
    </p:spTree>
    <p:extLst>
      <p:ext uri="{BB962C8B-B14F-4D97-AF65-F5344CB8AC3E}">
        <p14:creationId xmlns:p14="http://schemas.microsoft.com/office/powerpoint/2010/main" val="2051954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Скалисты, </a:t>
            </a:r>
            <a:r>
              <a:rPr lang="ru-RU" dirty="0" err="1"/>
              <a:t>питонисты</a:t>
            </a:r>
            <a:r>
              <a:rPr lang="ru-RU" dirty="0"/>
              <a:t>, и </a:t>
            </a:r>
            <a:r>
              <a:rPr lang="ru-RU" dirty="0" err="1"/>
              <a:t>тд</a:t>
            </a:r>
            <a:r>
              <a:rPr lang="ru-RU" dirty="0"/>
              <a:t> в зале – ликуйте. </a:t>
            </a:r>
            <a:r>
              <a:rPr lang="ru-RU" dirty="0" err="1"/>
              <a:t>Жабистам</a:t>
            </a:r>
            <a:r>
              <a:rPr lang="ru-RU" dirty="0"/>
              <a:t> мои соболезнования. </a:t>
            </a:r>
          </a:p>
          <a:p>
            <a:r>
              <a:rPr lang="ru-RU" dirty="0"/>
              <a:t>Проблема любимой парадигмы, когда мы начинаем </a:t>
            </a:r>
            <a:r>
              <a:rPr lang="ru-RU" dirty="0" err="1"/>
              <a:t>оверинженерить</a:t>
            </a:r>
            <a:r>
              <a:rPr lang="ru-RU" dirty="0"/>
              <a:t> – вроде бы задача простая, а мы ее раскручиваем, реализуем, и находим себя на 6601 строке из прошлого мема. </a:t>
            </a:r>
            <a:endParaRPr lang="en-US" dirty="0"/>
          </a:p>
          <a:p>
            <a:endParaRPr lang="en-US" dirty="0"/>
          </a:p>
          <a:p>
            <a:r>
              <a:rPr lang="en-US" dirty="0"/>
              <a:t>Java -&gt; Kotlin.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49054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Истинная правда, у самого в команде есть фронты, и разговор про баги выглядит примерно так, как на этом меме.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66529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аналогичная паста на русском языке, она смешнее, но и данный вариант передает всю суть тестирования. </a:t>
            </a:r>
          </a:p>
          <a:p>
            <a:r>
              <a:rPr lang="ru-RU" dirty="0"/>
              <a:t>Основной посыл – как для тестировщиков, так и для разработчиков – тестирование начинайте с </a:t>
            </a:r>
            <a:r>
              <a:rPr lang="ru-RU" dirty="0" err="1"/>
              <a:t>тн</a:t>
            </a:r>
            <a:r>
              <a:rPr lang="ru-RU" dirty="0"/>
              <a:t> хэппи-пасов, а негативные кейсы стоит смотреть во вторую очередь.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80017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-Sans" pitchFamily="2" charset="77"/>
                <a:ea typeface="T-Sans" pitchFamily="2" charset="77"/>
              </a:rPr>
              <a:t>Теперь переходим к серии микро-мемов про микро-сервисы. </a:t>
            </a:r>
          </a:p>
          <a:p>
            <a:r>
              <a:rPr lang="ru-RU" dirty="0">
                <a:latin typeface="T-Sans" pitchFamily="2" charset="77"/>
                <a:ea typeface="T-Sans" pitchFamily="2" charset="77"/>
              </a:rPr>
              <a:t>И первый мем –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классиечская</a:t>
            </a:r>
            <a:r>
              <a:rPr lang="ru-RU" dirty="0">
                <a:latin typeface="T-Sans" pitchFamily="2" charset="77"/>
                <a:ea typeface="T-Sans" pitchFamily="2" charset="77"/>
              </a:rPr>
              <a:t> ситуация, когда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микросервисы</a:t>
            </a:r>
            <a:r>
              <a:rPr lang="ru-RU" dirty="0">
                <a:latin typeface="T-Sans" pitchFamily="2" charset="77"/>
                <a:ea typeface="T-Sans" pitchFamily="2" charset="77"/>
              </a:rPr>
              <a:t> внедряли на поздних этапах развития сервиса.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latin typeface="T-Sans" pitchFamily="2" charset="77"/>
                <a:ea typeface="T-Sans" pitchFamily="2" charset="77"/>
              </a:rPr>
              <a:t>Внедряли-Внедряли, да так и не внедрили. В итоге остался легаси монолит, и множество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микросервисов</a:t>
            </a:r>
            <a:r>
              <a:rPr lang="ru-RU" dirty="0">
                <a:latin typeface="T-Sans" pitchFamily="2" charset="77"/>
                <a:ea typeface="T-Sans" pitchFamily="2" charset="77"/>
              </a:rPr>
              <a:t>-оберток, которые туда бегают. </a:t>
            </a:r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05508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-Sans" pitchFamily="2" charset="77"/>
                <a:ea typeface="T-Sans" pitchFamily="2" charset="77"/>
              </a:rPr>
              <a:t>Дальше снова риторический вопрос – а что такое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микросервис</a:t>
            </a:r>
            <a:r>
              <a:rPr lang="ru-RU" dirty="0">
                <a:latin typeface="T-Sans" pitchFamily="2" charset="77"/>
                <a:ea typeface="T-Sans" pitchFamily="2" charset="77"/>
              </a:rPr>
              <a:t>? Часто бывает такая ситуация, что вместо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микросервиса</a:t>
            </a:r>
            <a:r>
              <a:rPr lang="ru-RU" dirty="0">
                <a:latin typeface="T-Sans" pitchFamily="2" charset="77"/>
                <a:ea typeface="T-Sans" pitchFamily="2" charset="77"/>
              </a:rPr>
              <a:t> на неделе мини-недо-монолит. </a:t>
            </a:r>
          </a:p>
          <a:p>
            <a:r>
              <a:rPr lang="ru-RU" dirty="0">
                <a:latin typeface="T-Sans" pitchFamily="2" charset="77"/>
                <a:ea typeface="T-Sans" pitchFamily="2" charset="77"/>
              </a:rPr>
              <a:t>Еще хуже, когда у вас не мини-, а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тн</a:t>
            </a:r>
            <a:r>
              <a:rPr lang="ru-RU" dirty="0">
                <a:latin typeface="T-Sans" pitchFamily="2" charset="77"/>
                <a:ea typeface="T-Sans" pitchFamily="2" charset="77"/>
              </a:rPr>
              <a:t> распределенный монолит – страх и ненависть любого архитектора. </a:t>
            </a:r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61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на закуску – классический мем про </a:t>
            </a:r>
            <a:r>
              <a:rPr lang="ru-RU" dirty="0" err="1"/>
              <a:t>попабольность</a:t>
            </a:r>
            <a:r>
              <a:rPr lang="ru-RU" dirty="0"/>
              <a:t> </a:t>
            </a:r>
            <a:r>
              <a:rPr lang="ru-RU" dirty="0" err="1"/>
              <a:t>микросвервисов</a:t>
            </a:r>
            <a:r>
              <a:rPr lang="ru-RU" dirty="0"/>
              <a:t>. </a:t>
            </a:r>
          </a:p>
          <a:p>
            <a:r>
              <a:rPr lang="ru-RU" dirty="0"/>
              <a:t>Основной посыл = не стоит бежать за трендами, ведь архитектура должна быть осознанным выбором. </a:t>
            </a:r>
          </a:p>
          <a:p>
            <a:r>
              <a:rPr lang="ru-RU" dirty="0"/>
              <a:t>У </a:t>
            </a:r>
            <a:r>
              <a:rPr lang="ru-RU" dirty="0" err="1"/>
              <a:t>микросервисов</a:t>
            </a:r>
            <a:r>
              <a:rPr lang="ru-RU" dirty="0"/>
              <a:t> есть свои преимущества, но и про недостатки и проблемы забывать не стоит. </a:t>
            </a:r>
          </a:p>
        </p:txBody>
      </p:sp>
    </p:spTree>
    <p:extLst>
      <p:ext uri="{BB962C8B-B14F-4D97-AF65-F5344CB8AC3E}">
        <p14:creationId xmlns:p14="http://schemas.microsoft.com/office/powerpoint/2010/main" val="903009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53456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-Sans" pitchFamily="2" charset="77"/>
                <a:ea typeface="T-Sans" pitchFamily="2" charset="77"/>
              </a:rPr>
              <a:t>Я нахожусь на пути из регистратуры на пасеку. Надеюсь, что к конце лета я там, наконец-таки, окажусь. </a:t>
            </a:r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0237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725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9534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37248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-Sans" pitchFamily="2" charset="77"/>
                <a:ea typeface="T-Sans" pitchFamily="2" charset="77"/>
              </a:rPr>
              <a:t>Основных опасности две – </a:t>
            </a:r>
          </a:p>
          <a:p>
            <a:r>
              <a:rPr lang="ru-RU" dirty="0">
                <a:latin typeface="T-Sans" pitchFamily="2" charset="77"/>
                <a:ea typeface="T-Sans" pitchFamily="2" charset="77"/>
              </a:rPr>
              <a:t>он может ошибаться, и пытаться убедить вас в обратном</a:t>
            </a:r>
          </a:p>
          <a:p>
            <a:r>
              <a:rPr lang="ru-RU" dirty="0">
                <a:latin typeface="T-Sans" pitchFamily="2" charset="77"/>
                <a:ea typeface="T-Sans" pitchFamily="2" charset="77"/>
              </a:rPr>
              <a:t>ИЛИ он может во всем с вами соглашаться</a:t>
            </a:r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85470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-Sans" pitchFamily="2" charset="77"/>
                <a:ea typeface="T-Sans" pitchFamily="2" charset="77"/>
              </a:rPr>
              <a:t>Кто-то готов тратить 20</a:t>
            </a:r>
            <a:r>
              <a:rPr lang="en-US" dirty="0">
                <a:latin typeface="T-Sans" pitchFamily="2" charset="77"/>
                <a:ea typeface="T-Sans" pitchFamily="2" charset="77"/>
              </a:rPr>
              <a:t> </a:t>
            </a:r>
            <a:r>
              <a:rPr lang="ru-RU" dirty="0">
                <a:latin typeface="T-Sans" pitchFamily="2" charset="77"/>
                <a:ea typeface="T-Sans" pitchFamily="2" charset="77"/>
              </a:rPr>
              <a:t>долларов на подписку в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клодике</a:t>
            </a:r>
            <a:r>
              <a:rPr lang="ru-RU" dirty="0">
                <a:latin typeface="T-Sans" pitchFamily="2" charset="77"/>
                <a:ea typeface="T-Sans" pitchFamily="2" charset="77"/>
              </a:rPr>
              <a:t>, или все-таки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твенти</a:t>
            </a:r>
            <a:r>
              <a:rPr lang="ru-RU" dirty="0">
                <a:latin typeface="T-Sans" pitchFamily="2" charset="77"/>
                <a:ea typeface="T-Sans" pitchFamily="2" charset="77"/>
              </a:rPr>
              <a:t> бакс из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твенти</a:t>
            </a:r>
            <a:r>
              <a:rPr lang="ru-RU" dirty="0">
                <a:latin typeface="T-Sans" pitchFamily="2" charset="77"/>
                <a:ea typeface="T-Sans" pitchFamily="2" charset="77"/>
              </a:rPr>
              <a:t> бакс?</a:t>
            </a:r>
            <a:endParaRPr lang="en-RU" dirty="0">
              <a:latin typeface="T-Sans" pitchFamily="2" charset="77"/>
              <a:ea typeface="T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9829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8500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Мокап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594727-B3A3-CA4C-C098-FEE09E0B0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77865" y="956976"/>
            <a:ext cx="6848382" cy="9556750"/>
          </a:xfrm>
          <a:prstGeom prst="rect">
            <a:avLst/>
          </a:prstGeom>
        </p:spPr>
      </p:pic>
      <p:sp>
        <p:nvSpPr>
          <p:cNvPr id="3" name="Рисунок 11">
            <a:extLst>
              <a:ext uri="{FF2B5EF4-FFF2-40B4-BE49-F238E27FC236}">
                <a16:creationId xmlns:a16="http://schemas.microsoft.com/office/drawing/2014/main" id="{47F5CBA1-9AE4-2078-1535-A1859BF707C8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1287347" y="1820405"/>
            <a:ext cx="5270760" cy="8684695"/>
          </a:xfrm>
          <a:prstGeom prst="round2SameRect">
            <a:avLst>
              <a:gd name="adj1" fmla="val 11496"/>
              <a:gd name="adj2" fmla="val 0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7892326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Мокап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5B910C-4492-5E2E-7DD6-5FFBE090F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79109" y="370889"/>
            <a:ext cx="4184195" cy="7838961"/>
          </a:xfrm>
          <a:prstGeom prst="rect">
            <a:avLst/>
          </a:prstGeom>
        </p:spPr>
      </p:pic>
      <p:sp>
        <p:nvSpPr>
          <p:cNvPr id="5" name="Рисунок 11">
            <a:extLst>
              <a:ext uri="{FF2B5EF4-FFF2-40B4-BE49-F238E27FC236}">
                <a16:creationId xmlns:a16="http://schemas.microsoft.com/office/drawing/2014/main" id="{FCB43D55-6306-5326-164C-3F42EE7C0DF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968483" y="876197"/>
            <a:ext cx="3229493" cy="6992977"/>
          </a:xfrm>
          <a:prstGeom prst="roundRect">
            <a:avLst>
              <a:gd name="adj" fmla="val 12761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6F1987-40A5-34CB-B4F9-E4F015EC9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1396" y="2668849"/>
            <a:ext cx="4184195" cy="7838961"/>
          </a:xfrm>
          <a:prstGeom prst="rect">
            <a:avLst/>
          </a:prstGeom>
        </p:spPr>
      </p:pic>
      <p:sp>
        <p:nvSpPr>
          <p:cNvPr id="7" name="Рисунок 11">
            <a:extLst>
              <a:ext uri="{FF2B5EF4-FFF2-40B4-BE49-F238E27FC236}">
                <a16:creationId xmlns:a16="http://schemas.microsoft.com/office/drawing/2014/main" id="{68173E91-AB78-054E-212F-C2FF81D99F74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870770" y="3174157"/>
            <a:ext cx="3229493" cy="6992977"/>
          </a:xfrm>
          <a:prstGeom prst="roundRect">
            <a:avLst>
              <a:gd name="adj" fmla="val 12761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CDEB41-F740-7B5B-E97E-6FD18884E4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83683" y="1081397"/>
            <a:ext cx="4184195" cy="7838961"/>
          </a:xfrm>
          <a:prstGeom prst="rect">
            <a:avLst/>
          </a:prstGeom>
        </p:spPr>
      </p:pic>
      <p:sp>
        <p:nvSpPr>
          <p:cNvPr id="9" name="Рисунок 11">
            <a:extLst>
              <a:ext uri="{FF2B5EF4-FFF2-40B4-BE49-F238E27FC236}">
                <a16:creationId xmlns:a16="http://schemas.microsoft.com/office/drawing/2014/main" id="{5F7DB011-28DC-2814-01DC-A19532AE4CFC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5773057" y="1586705"/>
            <a:ext cx="3229493" cy="6992977"/>
          </a:xfrm>
          <a:prstGeom prst="roundRect">
            <a:avLst>
              <a:gd name="adj" fmla="val 12567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2576724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5" r:id="rId43"/>
    <p:sldLayoutId id="2147483858" r:id="rId44"/>
    <p:sldLayoutId id="2147483857" r:id="rId45"/>
    <p:sldLayoutId id="2147483851" r:id="rId46"/>
    <p:sldLayoutId id="2147483809" r:id="rId47"/>
    <p:sldLayoutId id="2147483841" r:id="rId48"/>
    <p:sldLayoutId id="2147483847" r:id="rId49"/>
    <p:sldLayoutId id="2147483863" r:id="rId50"/>
    <p:sldLayoutId id="2147483834" r:id="rId51"/>
    <p:sldLayoutId id="2147483832" r:id="rId52"/>
    <p:sldLayoutId id="2147483835" r:id="rId53"/>
    <p:sldLayoutId id="2147483833" r:id="rId54"/>
    <p:sldLayoutId id="2147483843" r:id="rId55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vatov/ab-telegram-poll-bo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46.jpeg"/><Relationship Id="rId4" Type="http://schemas.openxmlformats.org/officeDocument/2006/relationships/image" Target="../media/image4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799E05-1C06-249F-F018-346FCB4EB48C}"/>
              </a:ext>
            </a:extLst>
          </p:cNvPr>
          <p:cNvSpPr txBox="1"/>
          <p:nvPr/>
        </p:nvSpPr>
        <p:spPr>
          <a:xfrm>
            <a:off x="8213892" y="4078900"/>
            <a:ext cx="10992150" cy="24714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You Laugh – You Loose</a:t>
            </a:r>
            <a:endParaRPr lang="ru-RU" sz="8800" b="1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5504A-1512-3B53-17F3-B6E78F652625}"/>
              </a:ext>
            </a:extLst>
          </p:cNvPr>
          <p:cNvSpPr txBox="1"/>
          <p:nvPr/>
        </p:nvSpPr>
        <p:spPr>
          <a:xfrm>
            <a:off x="9059105" y="8905360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Сергей Хватов | Ведущий </a:t>
            </a:r>
            <a:r>
              <a:rPr lang="ru-RU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мемолог</a:t>
            </a:r>
            <a:endParaRPr lang="ru-RU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43444-2599-EB79-10A9-817AC955C359}"/>
              </a:ext>
            </a:extLst>
          </p:cNvPr>
          <p:cNvSpPr txBox="1"/>
          <p:nvPr/>
        </p:nvSpPr>
        <p:spPr>
          <a:xfrm>
            <a:off x="8195963" y="6862463"/>
            <a:ext cx="10992150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3200" dirty="0">
                <a:solidFill>
                  <a:schemeClr val="accent2"/>
                </a:solidFill>
                <a:effectLst/>
                <a:latin typeface="T-Sans" pitchFamily="2" charset="0"/>
                <a:ea typeface="T-Sans" pitchFamily="2" charset="0"/>
              </a:rPr>
              <a:t>T-Academy Edition</a:t>
            </a:r>
            <a:endParaRPr lang="ru-RU" sz="3200" dirty="0">
              <a:solidFill>
                <a:schemeClr val="accent2"/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8C7919-13E5-E761-9B17-11242C460C9D}"/>
              </a:ext>
            </a:extLst>
          </p:cNvPr>
          <p:cNvGrpSpPr/>
          <p:nvPr/>
        </p:nvGrpSpPr>
        <p:grpSpPr>
          <a:xfrm>
            <a:off x="8207375" y="8783638"/>
            <a:ext cx="612776" cy="612776"/>
            <a:chOff x="6884958" y="8711671"/>
            <a:chExt cx="921394" cy="921394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FBC5EDC0-76AA-4A7A-59AB-9485EFEBB772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6EC14B0-942F-78BF-DB33-FDDDCBEE2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1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7A7A92A-92D8-23CA-C70C-9DB791A11F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1" b="22417"/>
          <a:stretch/>
        </p:blipFill>
        <p:spPr>
          <a:xfrm>
            <a:off x="611188" y="647700"/>
            <a:ext cx="7596187" cy="6516688"/>
          </a:xfr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DD083BD-5FF6-05DA-92A5-522B017AF9B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E1AB889-AAE4-02E0-264C-D44B799EAF91}"/>
              </a:ext>
            </a:extLst>
          </p:cNvPr>
          <p:cNvGrpSpPr/>
          <p:nvPr/>
        </p:nvGrpSpPr>
        <p:grpSpPr>
          <a:xfrm>
            <a:off x="1133009" y="8240206"/>
            <a:ext cx="6504921" cy="1470357"/>
            <a:chOff x="1150938" y="8168094"/>
            <a:chExt cx="6504921" cy="147035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948361-9C7C-43BF-201E-0B1BDE4B627C}"/>
                </a:ext>
              </a:extLst>
            </p:cNvPr>
            <p:cNvSpPr txBox="1"/>
            <p:nvPr/>
          </p:nvSpPr>
          <p:spPr>
            <a:xfrm>
              <a:off x="1150938" y="8168094"/>
              <a:ext cx="6504921" cy="8656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dirty="0">
                  <a:latin typeface="T-Sans" pitchFamily="2" charset="0"/>
                  <a:ea typeface="T-Sans" pitchFamily="2" charset="0"/>
                </a:rPr>
                <a:t>Сергей Хватов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079C18-1EF9-E2A1-537D-C215DE0AE304}"/>
                </a:ext>
              </a:extLst>
            </p:cNvPr>
            <p:cNvSpPr txBox="1"/>
            <p:nvPr/>
          </p:nvSpPr>
          <p:spPr>
            <a:xfrm>
              <a:off x="1150938" y="9109075"/>
              <a:ext cx="6504920" cy="529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66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pPr>
                <a:lnSpc>
                  <a:spcPct val="110000"/>
                </a:lnSpc>
              </a:pPr>
              <a:r>
                <a:rPr lang="ru-RU" sz="3200" b="0" dirty="0">
                  <a:latin typeface="T-Sans Medium" pitchFamily="2" charset="0"/>
                  <a:ea typeface="T-Sans" pitchFamily="2" charset="0"/>
                </a:rPr>
                <a:t>Ведущий кого-то куда-то</a:t>
              </a:r>
              <a:r>
                <a:rPr lang="en-US" sz="3200" b="0" dirty="0">
                  <a:latin typeface="T-Sans Medium" pitchFamily="2" charset="0"/>
                  <a:ea typeface="T-Sans" pitchFamily="2" charset="0"/>
                </a:rPr>
                <a:t>…</a:t>
              </a:r>
              <a:endParaRPr lang="ru-RU" sz="3200" b="0" dirty="0">
                <a:latin typeface="T-Sans Medium" pitchFamily="2" charset="0"/>
                <a:ea typeface="T-Sans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B8A0E74-6D80-96F3-625F-9638C170E59A}"/>
              </a:ext>
            </a:extLst>
          </p:cNvPr>
          <p:cNvSpPr txBox="1"/>
          <p:nvPr/>
        </p:nvSpPr>
        <p:spPr>
          <a:xfrm>
            <a:off x="9130553" y="1135354"/>
            <a:ext cx="9390529" cy="661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4000" dirty="0">
                <a:latin typeface="T-Sans Medium" pitchFamily="2" charset="0"/>
                <a:ea typeface="T-Sans" pitchFamily="2" charset="0"/>
              </a:rPr>
              <a:t>Давайте познакомимся!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442D936-1E0B-EAA0-2127-7FF60CC3C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7488" y="3930240"/>
            <a:ext cx="720000" cy="72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D260EEF-602B-0595-E702-A62268781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7488" y="5341266"/>
            <a:ext cx="720000" cy="72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228A5DB-8205-F17C-D7F8-4DEFAC159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7488" y="6752291"/>
            <a:ext cx="720000" cy="7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E84055-7C96-D1F0-BBAA-266E23CF4F92}"/>
              </a:ext>
            </a:extLst>
          </p:cNvPr>
          <p:cNvSpPr txBox="1"/>
          <p:nvPr/>
        </p:nvSpPr>
        <p:spPr>
          <a:xfrm>
            <a:off x="10073249" y="2642611"/>
            <a:ext cx="4998850" cy="495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Меня зовут Сергей </a:t>
            </a:r>
            <a:r>
              <a:rPr lang="en-RU" dirty="0">
                <a:latin typeface="T-Sans" pitchFamily="2" charset="77"/>
                <a:ea typeface="T-Sans" pitchFamily="2" charset="77"/>
              </a:rPr>
              <a:t>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208AD-776E-BD29-51EA-5E0FB939B115}"/>
              </a:ext>
            </a:extLst>
          </p:cNvPr>
          <p:cNvSpPr txBox="1"/>
          <p:nvPr/>
        </p:nvSpPr>
        <p:spPr>
          <a:xfrm>
            <a:off x="10073248" y="4053637"/>
            <a:ext cx="5365359" cy="473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GB" dirty="0">
                <a:latin typeface="T-Sans" pitchFamily="2" charset="77"/>
                <a:ea typeface="T-Sans" pitchFamily="2" charset="77"/>
              </a:rPr>
              <a:t>Backend-</a:t>
            </a:r>
            <a:r>
              <a:rPr lang="ru-RU" dirty="0">
                <a:latin typeface="T-Sans" pitchFamily="2" charset="77"/>
                <a:ea typeface="T-Sans" pitchFamily="2" charset="77"/>
              </a:rPr>
              <a:t>разработчик в Т-Банке </a:t>
            </a:r>
            <a:r>
              <a:rPr lang="en-RU" dirty="0">
                <a:latin typeface="T-Sans" pitchFamily="2" charset="77"/>
                <a:ea typeface="T-Sans" pitchFamily="2" charset="77"/>
              </a:rPr>
              <a:t>👨‍🔬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78294-5511-31CB-1AB5-939943C6237B}"/>
              </a:ext>
            </a:extLst>
          </p:cNvPr>
          <p:cNvSpPr txBox="1"/>
          <p:nvPr/>
        </p:nvSpPr>
        <p:spPr>
          <a:xfrm>
            <a:off x="10073249" y="5464663"/>
            <a:ext cx="7540522" cy="473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77"/>
                <a:ea typeface="T-Sans" pitchFamily="2" charset="77"/>
              </a:rPr>
              <a:t>Преподавал у некоторых из вам в Т-Академии </a:t>
            </a:r>
            <a:r>
              <a:rPr lang="en-RU" dirty="0">
                <a:latin typeface="T-Sans" pitchFamily="2" charset="77"/>
                <a:ea typeface="T-Sans" pitchFamily="2" charset="77"/>
              </a:rPr>
              <a:t>🧑‍🎓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83554B-4738-AE07-8B3A-D77FB0D9F94E}"/>
              </a:ext>
            </a:extLst>
          </p:cNvPr>
          <p:cNvSpPr txBox="1"/>
          <p:nvPr/>
        </p:nvSpPr>
        <p:spPr>
          <a:xfrm>
            <a:off x="10073248" y="6875689"/>
            <a:ext cx="8569977" cy="1529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Обладаю аж целыми двумя сертификатами о прохождении курсов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мемологии</a:t>
            </a:r>
            <a:r>
              <a:rPr lang="ru-RU" dirty="0">
                <a:latin typeface="T-Sans" pitchFamily="2" charset="77"/>
                <a:ea typeface="T-Sans" pitchFamily="2" charset="77"/>
              </a:rPr>
              <a:t> - из Политеха и ИТМО </a:t>
            </a:r>
            <a:r>
              <a:rPr lang="en-RU" dirty="0">
                <a:latin typeface="T-Sans" pitchFamily="2" charset="77"/>
                <a:ea typeface="T-Sans" pitchFamily="2" charset="77"/>
              </a:rPr>
              <a:t>📜</a:t>
            </a:r>
          </a:p>
          <a:p>
            <a:pPr>
              <a:lnSpc>
                <a:spcPct val="12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59350DE-28B3-978D-16CB-C893B8CE0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7488" y="2519214"/>
            <a:ext cx="720000" cy="720000"/>
          </a:xfrm>
          <a:prstGeom prst="rect">
            <a:avLst/>
          </a:prstGeom>
        </p:spPr>
      </p:pic>
      <p:pic>
        <p:nvPicPr>
          <p:cNvPr id="3" name="Рисунок 16">
            <a:extLst>
              <a:ext uri="{FF2B5EF4-FFF2-40B4-BE49-F238E27FC236}">
                <a16:creationId xmlns:a16="http://schemas.microsoft.com/office/drawing/2014/main" id="{09A7F456-C69D-4305-C7FC-CF0D1C9ED5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9650" y="8163316"/>
            <a:ext cx="720000" cy="7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AB89BC-AC47-69D7-6B12-1A672FD56575}"/>
              </a:ext>
            </a:extLst>
          </p:cNvPr>
          <p:cNvSpPr txBox="1"/>
          <p:nvPr/>
        </p:nvSpPr>
        <p:spPr>
          <a:xfrm>
            <a:off x="10145410" y="8286714"/>
            <a:ext cx="8569977" cy="495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Шарю за мемы </a:t>
            </a:r>
            <a:r>
              <a:rPr lang="en-RU" dirty="0">
                <a:latin typeface="T-Sans" pitchFamily="2" charset="77"/>
                <a:ea typeface="T-Sans" pitchFamily="2" charset="77"/>
              </a:rPr>
              <a:t>❓</a:t>
            </a:r>
          </a:p>
        </p:txBody>
      </p:sp>
    </p:spTree>
    <p:extLst>
      <p:ext uri="{BB962C8B-B14F-4D97-AF65-F5344CB8AC3E}">
        <p14:creationId xmlns:p14="http://schemas.microsoft.com/office/powerpoint/2010/main" val="1111720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7CE564-C4B1-F3CE-410B-BA61DE1DAD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188" y="2349565"/>
            <a:ext cx="9705975" cy="5381625"/>
          </a:xfr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DE05CCF-ED4F-1BD7-11F8-319EF2AA574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81B08-550E-446B-8694-9103BC83E31B}"/>
              </a:ext>
            </a:extLst>
          </p:cNvPr>
          <p:cNvSpPr txBox="1"/>
          <p:nvPr/>
        </p:nvSpPr>
        <p:spPr>
          <a:xfrm>
            <a:off x="611187" y="556966"/>
            <a:ext cx="18576925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 Мемы…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Что такое мемы?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6F999-E8FD-032E-3CE4-EB45ADBB2EF6}"/>
              </a:ext>
            </a:extLst>
          </p:cNvPr>
          <p:cNvSpPr txBox="1"/>
          <p:nvPr/>
        </p:nvSpPr>
        <p:spPr>
          <a:xfrm>
            <a:off x="11336344" y="2303463"/>
            <a:ext cx="7004598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600" dirty="0">
                <a:latin typeface="T-Sans Medium" pitchFamily="2" charset="0"/>
                <a:ea typeface="T-Sans" pitchFamily="2" charset="0"/>
              </a:rPr>
              <a:t>Для чего нам с вами мемы?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A794B-EE58-C791-8D69-6B1C43A1EBCE}"/>
              </a:ext>
            </a:extLst>
          </p:cNvPr>
          <p:cNvSpPr txBox="1"/>
          <p:nvPr/>
        </p:nvSpPr>
        <p:spPr>
          <a:xfrm>
            <a:off x="11336344" y="3302311"/>
            <a:ext cx="7851768" cy="31639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Разрядка для нашего уставшего ума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Установление связей внутри социума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Бесценный источник знаний и опыта поколений – </a:t>
            </a:r>
            <a:br>
              <a:rPr lang="ru-RU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en-US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“</a:t>
            </a:r>
            <a:r>
              <a:rPr lang="ru-RU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в каждой шутке только доля шутки</a:t>
            </a:r>
            <a:r>
              <a:rPr lang="en-US" sz="32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”</a:t>
            </a:r>
            <a:endParaRPr lang="ru-RU" sz="32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A94CE-7D6D-72CE-EE66-5A75B6D07EBE}"/>
              </a:ext>
            </a:extLst>
          </p:cNvPr>
          <p:cNvSpPr txBox="1"/>
          <p:nvPr/>
        </p:nvSpPr>
        <p:spPr>
          <a:xfrm>
            <a:off x="753799" y="1330776"/>
            <a:ext cx="18576925" cy="5693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dirty="0">
                <a:latin typeface="T-Sans" pitchFamily="2" charset="0"/>
                <a:ea typeface="T-Sans" pitchFamily="2" charset="0"/>
              </a:rPr>
              <a:t>И чем они могут быть полезны?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44BF8-4683-1776-298A-3BBCE088A6A9}"/>
              </a:ext>
            </a:extLst>
          </p:cNvPr>
          <p:cNvSpPr txBox="1"/>
          <p:nvPr/>
        </p:nvSpPr>
        <p:spPr>
          <a:xfrm>
            <a:off x="656289" y="7718929"/>
            <a:ext cx="961577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Исходя из определения – мемы не обязательно должны быть смешными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030" name="Picture 6" descr="хихи хехе хаха кошки коты котики кошандрики кисики котаны кошечки котята  белый черный пятнистый рыжий полосатый стаканы.. 2026 | ВКонтакте">
            <a:extLst>
              <a:ext uri="{FF2B5EF4-FFF2-40B4-BE49-F238E27FC236}">
                <a16:creationId xmlns:a16="http://schemas.microsoft.com/office/drawing/2014/main" id="{17FD7210-F43C-1E68-FCB8-E49C07F52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8486" y="7801542"/>
            <a:ext cx="5970814" cy="335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9395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15C97-89F0-8726-9B74-20C91248E24D}"/>
              </a:ext>
            </a:extLst>
          </p:cNvPr>
          <p:cNvSpPr txBox="1"/>
          <p:nvPr/>
        </p:nvSpPr>
        <p:spPr>
          <a:xfrm>
            <a:off x="1366838" y="1281545"/>
            <a:ext cx="5935475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9400"/>
              </a:lnSpc>
              <a:defRPr sz="8800" b="1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ru-RU" sz="60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Что нас с вами сегодня ждет?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9F034E-A4C6-7F11-4102-9F92DDB39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838" y="4573988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C078AC-A74A-3B35-8F8A-70E431EF4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838" y="6302766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5FDF16-AD21-A3C1-C4E9-C3B81AE4A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839" y="7589845"/>
            <a:ext cx="720000" cy="7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7DA60-DE8D-9857-D423-7CEAD2E0826D}"/>
              </a:ext>
            </a:extLst>
          </p:cNvPr>
          <p:cNvSpPr txBox="1"/>
          <p:nvPr/>
        </p:nvSpPr>
        <p:spPr>
          <a:xfrm>
            <a:off x="2332598" y="3406389"/>
            <a:ext cx="6625871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Двадцать минут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зашакаленных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,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family-friendly, PG-13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мемов про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айтишечку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B5016-6544-D4A3-E45C-B132B4619EFB}"/>
              </a:ext>
            </a:extLst>
          </p:cNvPr>
          <p:cNvSpPr txBox="1"/>
          <p:nvPr/>
        </p:nvSpPr>
        <p:spPr>
          <a:xfrm>
            <a:off x="2332598" y="4697385"/>
            <a:ext cx="6625870" cy="1447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Каждый мем (почти) –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сос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мыслом</a:t>
            </a:r>
            <a:r>
              <a:rPr lang="ru-RU" dirty="0">
                <a:latin typeface="T-Sans" pitchFamily="2" charset="0"/>
                <a:ea typeface="T-Sans" pitchFamily="2" charset="0"/>
              </a:rPr>
              <a:t>! Попробуем разобрать и осознать </a:t>
            </a:r>
            <a:r>
              <a:rPr lang="en-US" dirty="0">
                <a:latin typeface="T-Sans" pitchFamily="2" charset="0"/>
                <a:ea typeface="T-Sans" pitchFamily="2" charset="0"/>
              </a:rPr>
              <a:t>“</a:t>
            </a:r>
            <a:r>
              <a:rPr lang="ru-RU" dirty="0">
                <a:latin typeface="T-Sans" pitchFamily="2" charset="0"/>
                <a:ea typeface="T-Sans" pitchFamily="2" charset="0"/>
              </a:rPr>
              <a:t>интеллектуальную</a:t>
            </a:r>
            <a:r>
              <a:rPr lang="en-US" dirty="0">
                <a:latin typeface="T-Sans" pitchFamily="2" charset="0"/>
                <a:ea typeface="T-Sans" pitchFamily="2" charset="0"/>
              </a:rPr>
              <a:t>”</a:t>
            </a:r>
            <a:r>
              <a:rPr lang="ru-RU" dirty="0">
                <a:latin typeface="T-Sans" pitchFamily="2" charset="0"/>
                <a:ea typeface="T-Sans" pitchFamily="2" charset="0"/>
              </a:rPr>
              <a:t> составляющую мемов!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FF235-0E18-4781-8E7C-9B2C76D67069}"/>
              </a:ext>
            </a:extLst>
          </p:cNvPr>
          <p:cNvSpPr txBox="1"/>
          <p:nvPr/>
        </p:nvSpPr>
        <p:spPr>
          <a:xfrm>
            <a:off x="2332598" y="6426163"/>
            <a:ext cx="6625870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По ходу лекции – голосование за премию </a:t>
            </a:r>
            <a:r>
              <a:rPr lang="en-US" dirty="0">
                <a:latin typeface="T-Sans" pitchFamily="2" charset="0"/>
                <a:ea typeface="T-Sans" pitchFamily="2" charset="0"/>
              </a:rPr>
              <a:t>“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Лучший мем года</a:t>
            </a:r>
            <a:r>
              <a:rPr lang="en-US" dirty="0">
                <a:latin typeface="T-Sans" pitchFamily="2" charset="0"/>
                <a:ea typeface="T-Sans" pitchFamily="2" charset="0"/>
              </a:rPr>
              <a:t>”</a:t>
            </a:r>
            <a:r>
              <a:rPr lang="ru-RU" dirty="0"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1B1904-E5C5-2710-8EB2-A4AD469A4487}"/>
              </a:ext>
            </a:extLst>
          </p:cNvPr>
          <p:cNvSpPr txBox="1"/>
          <p:nvPr/>
        </p:nvSpPr>
        <p:spPr>
          <a:xfrm>
            <a:off x="2332599" y="7713243"/>
            <a:ext cx="6625869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После лекции – розыгрыш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ОЧЕНЬ ценных призов </a:t>
            </a:r>
            <a:r>
              <a:rPr lang="ru-RU" dirty="0">
                <a:latin typeface="T-Sans" pitchFamily="2" charset="0"/>
                <a:ea typeface="T-Sans" pitchFamily="2" charset="0"/>
              </a:rPr>
              <a:t>между голосовавшими!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0049181-FE17-E34C-3DB1-22CDF715B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838" y="3282992"/>
            <a:ext cx="720000" cy="720000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EC6BBCA-AFFC-1FCD-904C-9C83D81E6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4</a:t>
            </a:fld>
            <a:endParaRPr lang="ru-RU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A80B1C6-7268-405E-94CB-4386B08558F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2567" r="-12529" b="4173"/>
          <a:stretch/>
        </p:blipFill>
        <p:spPr>
          <a:xfrm>
            <a:off x="9762956" y="647699"/>
            <a:ext cx="10619440" cy="9864725"/>
          </a:xfrm>
        </p:spPr>
      </p:pic>
    </p:spTree>
    <p:extLst>
      <p:ext uri="{BB962C8B-B14F-4D97-AF65-F5344CB8AC3E}">
        <p14:creationId xmlns:p14="http://schemas.microsoft.com/office/powerpoint/2010/main" val="42756074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691230" cy="5010107"/>
            <a:chOff x="1943100" y="2934186"/>
            <a:chExt cx="7302500" cy="501010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2022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Регистрируйтесь</a:t>
              </a:r>
            </a:p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в ботике!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1412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Если кому-то будет интересно, то </a:t>
              </a:r>
              <a:r>
                <a:rPr lang="ru-RU" b="1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  <a:hlinkClick r:id="rId3"/>
                </a:rPr>
                <a:t>тут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 можно найти исходники и увидеть мою бурную переписку с </a:t>
              </a:r>
              <a:r>
                <a:rPr lang="ru-RU" b="1" dirty="0" err="1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Клодиком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 на тему </a:t>
              </a:r>
              <a:r>
                <a:rPr lang="ru-RU" b="1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качества исходного кода </a:t>
              </a:r>
              <a:r>
                <a:rPr lang="en-US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:)</a:t>
              </a:r>
              <a:endPara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1FB7AF3-EF57-69FE-6C3A-7406950873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083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BB1B2-54F4-F2D3-9BFF-4CE4DCE0B1EE}"/>
              </a:ext>
            </a:extLst>
          </p:cNvPr>
          <p:cNvSpPr txBox="1"/>
          <p:nvPr/>
        </p:nvSpPr>
        <p:spPr>
          <a:xfrm>
            <a:off x="1608978" y="2321392"/>
            <a:ext cx="6925422" cy="2022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7200" dirty="0">
                <a:latin typeface="T-Sans" pitchFamily="2" charset="0"/>
                <a:ea typeface="T-Sans" pitchFamily="2" charset="0"/>
              </a:rPr>
              <a:t>Отдельная благодарность!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E397BC-E80F-3F57-4EBA-1C2516722D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A1E54-902D-6F66-3FE2-A0FBBD7D3BD4}"/>
              </a:ext>
            </a:extLst>
          </p:cNvPr>
          <p:cNvSpPr txBox="1"/>
          <p:nvPr/>
        </p:nvSpPr>
        <p:spPr>
          <a:xfrm>
            <a:off x="1608978" y="6547341"/>
            <a:ext cx="7498446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6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Спасибо вам за помощь!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C3FE2-4664-5632-F8A3-6A538F359CAB}"/>
              </a:ext>
            </a:extLst>
          </p:cNvPr>
          <p:cNvSpPr txBox="1"/>
          <p:nvPr/>
        </p:nvSpPr>
        <p:spPr>
          <a:xfrm>
            <a:off x="1608978" y="7333540"/>
            <a:ext cx="672222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b="1" dirty="0">
                <a:effectLst/>
                <a:latin typeface="T-Sans" pitchFamily="2" charset="0"/>
                <a:ea typeface="T-Sans" pitchFamily="2" charset="0"/>
              </a:rPr>
              <a:t>Мария</a:t>
            </a:r>
            <a:r>
              <a:rPr lang="ru-RU" dirty="0"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Максим</a:t>
            </a:r>
            <a:r>
              <a:rPr lang="ru-RU" dirty="0">
                <a:latin typeface="T-Sans" pitchFamily="2" charset="0"/>
                <a:ea typeface="T-Sans" pitchFamily="2" charset="0"/>
              </a:rPr>
              <a:t>, </a:t>
            </a:r>
            <a:r>
              <a:rPr lang="ru-RU" b="1" dirty="0">
                <a:effectLst/>
                <a:latin typeface="T-Sans" pitchFamily="2" charset="0"/>
                <a:ea typeface="T-Sans" pitchFamily="2" charset="0"/>
              </a:rPr>
              <a:t>Дмитрий</a:t>
            </a:r>
            <a:r>
              <a:rPr lang="ru-RU" dirty="0"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ru-RU" b="1" dirty="0">
                <a:effectLst/>
                <a:latin typeface="T-Sans" pitchFamily="2" charset="0"/>
                <a:ea typeface="T-Sans" pitchFamily="2" charset="0"/>
              </a:rPr>
              <a:t>Александр</a:t>
            </a:r>
            <a:r>
              <a:rPr lang="ru-RU" dirty="0">
                <a:effectLst/>
                <a:latin typeface="T-Sans" pitchFamily="2" charset="0"/>
                <a:ea typeface="T-Sans" pitchFamily="2" charset="0"/>
              </a:rPr>
              <a:t> и </a:t>
            </a:r>
            <a:r>
              <a:rPr lang="ru-RU" b="1" dirty="0">
                <a:effectLst/>
                <a:latin typeface="T-Sans" pitchFamily="2" charset="0"/>
                <a:ea typeface="T-Sans" pitchFamily="2" charset="0"/>
              </a:rPr>
              <a:t>Леонид</a:t>
            </a:r>
            <a:r>
              <a:rPr lang="ru-RU" dirty="0">
                <a:effectLst/>
                <a:latin typeface="T-Sans" pitchFamily="2" charset="0"/>
                <a:ea typeface="T-Sans" pitchFamily="2" charset="0"/>
              </a:rPr>
              <a:t> – этот слайд посвящается вам! Спасибо за то, что поделились вашими самыми сокровенными и смешными</a:t>
            </a:r>
            <a:r>
              <a:rPr lang="en-US" dirty="0">
                <a:effectLst/>
                <a:latin typeface="T-Sans" pitchFamily="2" charset="0"/>
                <a:ea typeface="T-Sans" pitchFamily="2" charset="0"/>
              </a:rPr>
              <a:t>*</a:t>
            </a:r>
            <a:r>
              <a:rPr lang="ru-RU" dirty="0">
                <a:effectLst/>
                <a:latin typeface="T-Sans" pitchFamily="2" charset="0"/>
                <a:ea typeface="T-Sans" pitchFamily="2" charset="0"/>
              </a:rPr>
              <a:t> мемами!</a:t>
            </a:r>
            <a:endParaRPr lang="ru-RU" dirty="0">
              <a:solidFill>
                <a:schemeClr val="tx2">
                  <a:lumMod val="50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433219-E5F9-5CD4-8E7E-76709E2BFC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7424" y="884885"/>
            <a:ext cx="10080689" cy="8908404"/>
          </a:xfrm>
          <a:prstGeom prst="rect">
            <a:avLst/>
          </a:prstGeom>
        </p:spPr>
      </p:pic>
      <p:pic>
        <p:nvPicPr>
          <p:cNvPr id="4098" name="Picture 2" descr="Создать мем &quot;пингвин мем, пингвин птица, кланяющийся пингвин&quot; - Картинки -  Meme-arsenal.com">
            <a:extLst>
              <a:ext uri="{FF2B5EF4-FFF2-40B4-BE49-F238E27FC236}">
                <a16:creationId xmlns:a16="http://schemas.microsoft.com/office/drawing/2014/main" id="{8432E6ED-D636-6830-EBE4-598001C51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2" t="37880" r="10707" b="15712"/>
          <a:stretch/>
        </p:blipFill>
        <p:spPr bwMode="auto">
          <a:xfrm>
            <a:off x="18914457" y="10571553"/>
            <a:ext cx="884843" cy="53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6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Работа в команде</a:t>
            </a:r>
          </a:p>
        </p:txBody>
      </p:sp>
    </p:spTree>
    <p:extLst>
      <p:ext uri="{BB962C8B-B14F-4D97-AF65-F5344CB8AC3E}">
        <p14:creationId xmlns:p14="http://schemas.microsoft.com/office/powerpoint/2010/main" val="2433968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8</a:t>
            </a:fld>
            <a:endParaRPr lang="ru-RU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6B6BDE5-A8BB-2C19-CB45-23AEECF41A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58" t="9287" r="-16987" b="18468"/>
          <a:stretch/>
        </p:blipFill>
        <p:spPr>
          <a:xfrm>
            <a:off x="8581569" y="1274243"/>
            <a:ext cx="11229161" cy="765099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 err="1">
                <a:latin typeface="T-Sans" pitchFamily="2" charset="0"/>
                <a:ea typeface="T-Sans" pitchFamily="2" charset="0"/>
              </a:rPr>
              <a:t>Литерали</a:t>
            </a:r>
            <a:r>
              <a:rPr lang="ru-RU" dirty="0">
                <a:latin typeface="T-Sans" pitchFamily="2" charset="0"/>
                <a:ea typeface="T-Sans" pitchFamily="2" charset="0"/>
              </a:rPr>
              <a:t> ми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тудэй</a:t>
            </a:r>
            <a:r>
              <a:rPr lang="en-US" dirty="0">
                <a:latin typeface="T-Sans" pitchFamily="2" charset="0"/>
                <a:ea typeface="T-Sans" pitchFamily="2" charset="0"/>
              </a:rPr>
              <a:t>…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A25B1-41B2-E5DD-2A30-897D0B0F0BF1}"/>
              </a:ext>
            </a:extLst>
          </p:cNvPr>
          <p:cNvSpPr txBox="1"/>
          <p:nvPr/>
        </p:nvSpPr>
        <p:spPr>
          <a:xfrm>
            <a:off x="611189" y="3006195"/>
            <a:ext cx="5650933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Это мой второй раз пребывания в новом офисе в СПб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:)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Тут, конечно, очень стильно, модно и красиво!  </a:t>
            </a:r>
            <a:r>
              <a:rPr lang="ru-RU" sz="2400" dirty="0"/>
              <a:t>Говорят, что и кормят вкусно!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Штош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до встречи в следующем году!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322727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9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Без код-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ревью</a:t>
            </a:r>
            <a:r>
              <a:rPr lang="ru-RU" dirty="0">
                <a:latin typeface="T-Sans" pitchFamily="2" charset="0"/>
                <a:ea typeface="T-Sans" pitchFamily="2" charset="0"/>
              </a:rPr>
              <a:t> – никуда!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A25B1-41B2-E5DD-2A30-897D0B0F0BF1}"/>
              </a:ext>
            </a:extLst>
          </p:cNvPr>
          <p:cNvSpPr txBox="1"/>
          <p:nvPr/>
        </p:nvSpPr>
        <p:spPr>
          <a:xfrm>
            <a:off x="611188" y="3006195"/>
            <a:ext cx="5650934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Надеюсь всем зашел процесс взаимного код-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ревью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?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Привыкайте – жизнь боль, а без код </a:t>
            </a:r>
            <a:r>
              <a:rPr lang="ru-RU" sz="2400" dirty="0" err="1"/>
              <a:t>ревью</a:t>
            </a:r>
            <a:r>
              <a:rPr lang="ru-RU" sz="2400" dirty="0"/>
              <a:t> ваш код в мастер-ветку не попадет</a:t>
            </a:r>
            <a:r>
              <a:rPr lang="en-US" sz="2400" dirty="0"/>
              <a:t>…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FBFA7B2-039C-1F0F-B2A6-D3A8FF7FB5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1464" r="-102" b="12292"/>
          <a:stretch/>
        </p:blipFill>
        <p:spPr>
          <a:xfrm>
            <a:off x="8581569" y="1274243"/>
            <a:ext cx="11229161" cy="7650999"/>
          </a:xfrm>
        </p:spPr>
      </p:pic>
    </p:spTree>
    <p:extLst>
      <p:ext uri="{BB962C8B-B14F-4D97-AF65-F5344CB8AC3E}">
        <p14:creationId xmlns:p14="http://schemas.microsoft.com/office/powerpoint/2010/main" val="3214870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10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деплой в пятницу на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прод</a:t>
            </a:r>
            <a:r>
              <a:rPr lang="en-US" dirty="0">
                <a:latin typeface="T-Sans" pitchFamily="2" charset="0"/>
                <a:ea typeface="T-Sans" pitchFamily="2" charset="0"/>
              </a:rPr>
              <a:t>…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9ADC41E-E7A1-E93B-7E26-BEBE803A26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8" b="10498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BDDF53-960C-7C47-215A-EF43E037FA8D}"/>
              </a:ext>
            </a:extLst>
          </p:cNvPr>
          <p:cNvSpPr txBox="1"/>
          <p:nvPr/>
        </p:nvSpPr>
        <p:spPr>
          <a:xfrm>
            <a:off x="611188" y="4235762"/>
            <a:ext cx="5650934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Пятница дана нам с вами для того, чтобы готовиться к отдыху на выходных!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если вы отдыхать не хотите, то ваши коллеги – очень даже!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Хотя бы пожалейте бедных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SRE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-инженеров и дежурных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292759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11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1E36C-0BAC-993C-9FFF-3910D8AB998B}"/>
              </a:ext>
            </a:extLst>
          </p:cNvPr>
          <p:cNvSpPr txBox="1"/>
          <p:nvPr/>
        </p:nvSpPr>
        <p:spPr>
          <a:xfrm>
            <a:off x="611187" y="1321118"/>
            <a:ext cx="6214155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Релизы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би лайк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DD1AC-9A19-B512-587A-5BA412D55DD5}"/>
              </a:ext>
            </a:extLst>
          </p:cNvPr>
          <p:cNvSpPr txBox="1"/>
          <p:nvPr/>
        </p:nvSpPr>
        <p:spPr>
          <a:xfrm>
            <a:off x="611188" y="2175198"/>
            <a:ext cx="5650934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Создание и выкатка релиза – дело достаточно сложное, особенно если плохо выстроены процессы…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Для решения этой проблемы человечество придумало </a:t>
            </a:r>
            <a:r>
              <a:rPr lang="en-US" sz="2400" b="1" dirty="0"/>
              <a:t>CI/CD – Continuous Integration, Continuous Deployment</a:t>
            </a:r>
            <a:r>
              <a:rPr lang="en-US" sz="2400" dirty="0"/>
              <a:t>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Но чтобы реализовать </a:t>
            </a:r>
            <a:r>
              <a:rPr lang="en-US" sz="2400" dirty="0"/>
              <a:t>CI/CD – </a:t>
            </a:r>
            <a:r>
              <a:rPr lang="ru-RU" sz="2400" dirty="0"/>
              <a:t>тоже нужно постараться!</a:t>
            </a: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A9FFC4C-F88E-FE99-15C9-306561F09CC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8256" r="-102" b="21344"/>
          <a:stretch/>
        </p:blipFill>
        <p:spPr>
          <a:xfrm>
            <a:off x="8581569" y="1274243"/>
            <a:ext cx="11229161" cy="7650999"/>
          </a:xfrm>
        </p:spPr>
      </p:pic>
    </p:spTree>
    <p:extLst>
      <p:ext uri="{BB962C8B-B14F-4D97-AF65-F5344CB8AC3E}">
        <p14:creationId xmlns:p14="http://schemas.microsoft.com/office/powerpoint/2010/main" val="1950334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12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1E36C-0BAC-993C-9FFF-3910D8AB998B}"/>
              </a:ext>
            </a:extLst>
          </p:cNvPr>
          <p:cNvSpPr txBox="1"/>
          <p:nvPr/>
        </p:nvSpPr>
        <p:spPr>
          <a:xfrm>
            <a:off x="611188" y="1321118"/>
            <a:ext cx="5650934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Very Continuous Integration 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BFF8C568-1315-7511-8CA4-6592937FD0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" t="-7067" r="6560" b="-14783"/>
          <a:stretch/>
        </p:blipFill>
        <p:spPr>
          <a:xfrm>
            <a:off x="8581569" y="1274243"/>
            <a:ext cx="11229161" cy="7650999"/>
          </a:xfr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812BC5-7ECC-86F4-1B6B-35D5C2339979}"/>
              </a:ext>
            </a:extLst>
          </p:cNvPr>
          <p:cNvSpPr txBox="1"/>
          <p:nvPr/>
        </p:nvSpPr>
        <p:spPr>
          <a:xfrm>
            <a:off x="611188" y="3837191"/>
            <a:ext cx="565093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Нет слов, одни эмоции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621566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4F001-48AD-5DDD-A29A-F08FC47F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13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FCB40-1E82-A997-0A09-420E122A69D8}"/>
              </a:ext>
            </a:extLst>
          </p:cNvPr>
          <p:cNvSpPr txBox="1"/>
          <p:nvPr/>
        </p:nvSpPr>
        <p:spPr>
          <a:xfrm>
            <a:off x="1917474" y="3468117"/>
            <a:ext cx="8738085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Мечта любого тимлида!</a:t>
            </a:r>
          </a:p>
        </p:txBody>
      </p:sp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AEA42D0A-9FF8-8BF9-E796-E57E3E05A3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6" t="-84" r="16597" b="84"/>
          <a:stretch/>
        </p:blipFill>
        <p:spPr>
          <a:xfrm>
            <a:off x="11287347" y="1820405"/>
            <a:ext cx="5270760" cy="868469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DBE684-A360-DF68-95B2-574CED4466AA}"/>
              </a:ext>
            </a:extLst>
          </p:cNvPr>
          <p:cNvSpPr txBox="1"/>
          <p:nvPr/>
        </p:nvSpPr>
        <p:spPr>
          <a:xfrm>
            <a:off x="1917473" y="5553464"/>
            <a:ext cx="7543767" cy="2046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Чтобы такого не допускать – не рассказывайте своему </a:t>
            </a:r>
            <a:r>
              <a:rPr lang="ru-RU" sz="2800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тим-лиду</a:t>
            </a:r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 на 1-1 о вашей второй, тайной личности (которая любит </a:t>
            </a:r>
            <a:r>
              <a:rPr lang="ru-RU" sz="2800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чипсеки</a:t>
            </a:r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 и смешные мемы), а то ее тоже заставят </a:t>
            </a:r>
            <a:r>
              <a:rPr lang="ru-RU" sz="2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работать</a:t>
            </a:r>
            <a:r>
              <a:rPr lang="en-US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…</a:t>
            </a:r>
            <a:endParaRPr lang="ru-RU" sz="28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11266" name="Picture 2" descr="Мем: &quot;Опять работа?&quot; - Все шаблоны - Meme-arsenal.com">
            <a:extLst>
              <a:ext uri="{FF2B5EF4-FFF2-40B4-BE49-F238E27FC236}">
                <a16:creationId xmlns:a16="http://schemas.microsoft.com/office/drawing/2014/main" id="{6F74AE1B-B771-4A75-0CA1-DFBD1E16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241" y="10423131"/>
            <a:ext cx="734060" cy="73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357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Разработка и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066099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4F001-48AD-5DDD-A29A-F08FC47F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2188791-3E79-7D37-11C6-BA16EA4AF5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0" r="8610"/>
          <a:stretch>
            <a:fillRect/>
          </a:stretch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CFCB40-1E82-A997-0A09-420E122A69D8}"/>
              </a:ext>
            </a:extLst>
          </p:cNvPr>
          <p:cNvSpPr txBox="1"/>
          <p:nvPr/>
        </p:nvSpPr>
        <p:spPr>
          <a:xfrm>
            <a:off x="1917474" y="3468117"/>
            <a:ext cx="8738085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POV: </a:t>
            </a:r>
            <a:r>
              <a:rPr lang="ru-RU" dirty="0">
                <a:latin typeface="T-Sans" pitchFamily="2" charset="0"/>
                <a:ea typeface="T-Sans" pitchFamily="2" charset="0"/>
              </a:rPr>
              <a:t>ваша первая рабочая задача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9EF39-D8CB-D207-15B8-D029EE03C27C}"/>
              </a:ext>
            </a:extLst>
          </p:cNvPr>
          <p:cNvSpPr txBox="1"/>
          <p:nvPr/>
        </p:nvSpPr>
        <p:spPr>
          <a:xfrm>
            <a:off x="1917473" y="5553464"/>
            <a:ext cx="7543767" cy="2046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Чтобы такого не допускать – не забывайте про </a:t>
            </a:r>
            <a:r>
              <a:rPr lang="en-US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SOLID, KISS, DRY </a:t>
            </a:r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и другие важные программистские паттерны со смешными названиями</a:t>
            </a:r>
            <a:r>
              <a:rPr lang="en-US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…</a:t>
            </a:r>
            <a:endParaRPr lang="ru-RU" sz="28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1026" name="Picture 2" descr="Robert C. Martin - Wikipedia">
            <a:extLst>
              <a:ext uri="{FF2B5EF4-FFF2-40B4-BE49-F238E27FC236}">
                <a16:creationId xmlns:a16="http://schemas.microsoft.com/office/drawing/2014/main" id="{2A53EB41-4338-5287-A3EA-50C749419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770" y="10319657"/>
            <a:ext cx="630530" cy="84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990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251D3-19F3-F160-6D06-334796F6236F}"/>
              </a:ext>
            </a:extLst>
          </p:cNvPr>
          <p:cNvSpPr txBox="1"/>
          <p:nvPr/>
        </p:nvSpPr>
        <p:spPr>
          <a:xfrm>
            <a:off x="611188" y="556966"/>
            <a:ext cx="8331644" cy="17120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GB" b="1" i="0" dirty="0">
                <a:effectLst/>
                <a:latin typeface="T-Sans" pitchFamily="2" charset="77"/>
                <a:ea typeface="T-Sans" pitchFamily="2" charset="77"/>
              </a:rPr>
              <a:t>Overengineered Oriented Programming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6954BB4-FECD-C238-86A9-1C7141FAC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</p:spPr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ABCFA4A-91D4-ADFF-8090-11BAE1D8AC7A}"/>
              </a:ext>
            </a:extLst>
          </p:cNvPr>
          <p:cNvGrpSpPr/>
          <p:nvPr/>
        </p:nvGrpSpPr>
        <p:grpSpPr>
          <a:xfrm>
            <a:off x="6036940" y="3271520"/>
            <a:ext cx="13762360" cy="8554720"/>
            <a:chOff x="7477169" y="647700"/>
            <a:chExt cx="18396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DCD838DA-196F-C605-F2A7-7F386E043C57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2A50F289-7B21-8438-ECDB-FFEE584732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10263E46-CA92-68FA-D7D7-EB742CA73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B143798E-8EE4-2A50-D5D0-8066A77DD0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FE24EF2B-0ED1-D528-16FC-823F217DB55E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pic>
        <p:nvPicPr>
          <p:cNvPr id="6" name="Picture 2" descr="I ❤️ OOP : r/ProgrammerHumor">
            <a:extLst>
              <a:ext uri="{FF2B5EF4-FFF2-40B4-BE49-F238E27FC236}">
                <a16:creationId xmlns:a16="http://schemas.microsoft.com/office/drawing/2014/main" id="{6B066535-30F2-E357-FB57-34E0148FA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69" y="4203478"/>
            <a:ext cx="13546817" cy="596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D34785-CEEB-8175-0BA6-F5ABA5B86138}"/>
              </a:ext>
            </a:extLst>
          </p:cNvPr>
          <p:cNvSpPr txBox="1"/>
          <p:nvPr/>
        </p:nvSpPr>
        <p:spPr>
          <a:xfrm>
            <a:off x="1550507" y="5185890"/>
            <a:ext cx="4521708" cy="20143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забывайте, что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ООП – не серебряная пуля</a:t>
            </a:r>
            <a:r>
              <a:rPr lang="ru-RU" dirty="0">
                <a:latin typeface="T-Sans" pitchFamily="2" charset="0"/>
                <a:ea typeface="T-Sans" pitchFamily="2" charset="0"/>
              </a:rPr>
              <a:t>! Разработчики современных ЯП это уже давно поняли, поэтому большинство из них –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мультипарадигмальные</a:t>
            </a:r>
            <a:r>
              <a:rPr lang="ru-RU" dirty="0"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A82C5-6072-0AAC-F6A1-BAC08F8718D6}"/>
              </a:ext>
            </a:extLst>
          </p:cNvPr>
          <p:cNvSpPr txBox="1"/>
          <p:nvPr/>
        </p:nvSpPr>
        <p:spPr>
          <a:xfrm>
            <a:off x="1519657" y="3858603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забывайте про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паттерны, и принципы</a:t>
            </a:r>
            <a:r>
              <a:rPr lang="ru-RU" dirty="0">
                <a:latin typeface="T-Sans" pitchFamily="2" charset="0"/>
                <a:ea typeface="T-Sans" pitchFamily="2" charset="0"/>
              </a:rPr>
              <a:t>! Они – результат десятков лет страданий других разработчиков!</a:t>
            </a:r>
          </a:p>
        </p:txBody>
      </p:sp>
      <p:pic>
        <p:nvPicPr>
          <p:cNvPr id="19" name="Рисунок 19">
            <a:extLst>
              <a:ext uri="{FF2B5EF4-FFF2-40B4-BE49-F238E27FC236}">
                <a16:creationId xmlns:a16="http://schemas.microsoft.com/office/drawing/2014/main" id="{2133F882-3F2C-3467-5234-805D76A72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63" y="3858603"/>
            <a:ext cx="612000" cy="612000"/>
          </a:xfrm>
          <a:prstGeom prst="rect">
            <a:avLst/>
          </a:prstGeom>
        </p:spPr>
      </p:pic>
      <p:pic>
        <p:nvPicPr>
          <p:cNvPr id="20" name="Рисунок 20">
            <a:extLst>
              <a:ext uri="{FF2B5EF4-FFF2-40B4-BE49-F238E27FC236}">
                <a16:creationId xmlns:a16="http://schemas.microsoft.com/office/drawing/2014/main" id="{B27DE548-5AAE-4B67-F817-8D8297F89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313" y="5185890"/>
            <a:ext cx="612000" cy="612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F586D1-7E1A-2BE5-4A75-FB4C6802460B}"/>
              </a:ext>
            </a:extLst>
          </p:cNvPr>
          <p:cNvSpPr txBox="1"/>
          <p:nvPr/>
        </p:nvSpPr>
        <p:spPr>
          <a:xfrm>
            <a:off x="646463" y="3271520"/>
            <a:ext cx="505362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Чтобы ООП не превратилось в тыкву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  <a:endParaRPr kumimoji="0" lang="en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170722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41103" y="5395224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Описание должно содержать всю необходимую информацию, и, при этом, не быть избыточным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41103" y="4441626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Название задачи, в том числе и бага, должно отражать ее суть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441626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395224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Average </a:t>
            </a:r>
            <a:r>
              <a:rPr lang="en-US" i="1" dirty="0">
                <a:latin typeface="T-Sans" pitchFamily="2" charset="0"/>
                <a:ea typeface="T-Sans" pitchFamily="2" charset="0"/>
              </a:rPr>
              <a:t>Backend Bug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</a:p>
          <a:p>
            <a:r>
              <a:rPr lang="en-US" dirty="0">
                <a:latin typeface="T-Sans" pitchFamily="2" charset="0"/>
                <a:ea typeface="T-Sans" pitchFamily="2" charset="0"/>
              </a:rPr>
              <a:t>be like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2650705-96BD-9CAA-E49F-AE063B2D3C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5"/>
          <a:stretch/>
        </p:blipFill>
        <p:spPr>
          <a:xfrm>
            <a:off x="7812151" y="1392568"/>
            <a:ext cx="7193806" cy="4224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DC055-8838-3E7B-5F53-5BE5790A63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" t="2924" r="1" b="3152"/>
          <a:stretch/>
        </p:blipFill>
        <p:spPr>
          <a:xfrm>
            <a:off x="12785271" y="4931228"/>
            <a:ext cx="5813020" cy="54437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C050EA-A9B2-4A5F-FED2-90366747A32C}"/>
              </a:ext>
            </a:extLst>
          </p:cNvPr>
          <p:cNvSpPr txBox="1"/>
          <p:nvPr/>
        </p:nvSpPr>
        <p:spPr>
          <a:xfrm>
            <a:off x="12139404" y="10500038"/>
            <a:ext cx="27100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b="1" dirty="0"/>
              <a:t>Два мема по цене одного!</a:t>
            </a:r>
            <a:endParaRPr kumimoji="0" lang="en-R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409761-E5A5-7DE1-D95E-185BD7B42BD4}"/>
              </a:ext>
            </a:extLst>
          </p:cNvPr>
          <p:cNvSpPr txBox="1"/>
          <p:nvPr/>
        </p:nvSpPr>
        <p:spPr>
          <a:xfrm>
            <a:off x="600999" y="3837191"/>
            <a:ext cx="64899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И тестировщикам, и разработчикам на заметку</a:t>
            </a:r>
            <a:r>
              <a:rPr lang="en-US" sz="2400" b="1" dirty="0"/>
              <a:t>:</a:t>
            </a:r>
            <a:endParaRPr kumimoji="0" lang="en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6024520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18</a:t>
            </a:fld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Average </a:t>
            </a:r>
            <a:r>
              <a:rPr lang="ru-RU" i="1" dirty="0">
                <a:latin typeface="T-Sans" pitchFamily="2" charset="0"/>
                <a:ea typeface="T-Sans" pitchFamily="2" charset="0"/>
              </a:rPr>
              <a:t>тестировщик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b</a:t>
            </a:r>
            <a:r>
              <a:rPr lang="en-US" dirty="0">
                <a:latin typeface="T-Sans" pitchFamily="2" charset="0"/>
                <a:ea typeface="T-Sans" pitchFamily="2" charset="0"/>
              </a:rPr>
              <a:t>e like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3D507E2-E1E1-7BB9-F450-40D2A5A3F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461" y="1330363"/>
            <a:ext cx="8539417" cy="89742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EC62CFE-3685-CF8A-A57F-5CAE3C783679}"/>
              </a:ext>
            </a:extLst>
          </p:cNvPr>
          <p:cNvSpPr txBox="1"/>
          <p:nvPr/>
        </p:nvSpPr>
        <p:spPr>
          <a:xfrm>
            <a:off x="611188" y="3837191"/>
            <a:ext cx="5650934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Не забывайте про интеграционное тестирование и проверку ожидаемых пользовательских </a:t>
            </a:r>
            <a:r>
              <a:rPr lang="en-US" sz="2400" dirty="0"/>
              <a:t>use-</a:t>
            </a:r>
            <a:r>
              <a:rPr lang="ru-RU" sz="2400" dirty="0"/>
              <a:t>кейсов!</a:t>
            </a:r>
            <a:r>
              <a:rPr lang="en-US" sz="2400" dirty="0"/>
              <a:t>	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993315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626B-6CD8-F0FF-9EC4-863C360132F9}"/>
              </a:ext>
            </a:extLst>
          </p:cNvPr>
          <p:cNvSpPr txBox="1"/>
          <p:nvPr/>
        </p:nvSpPr>
        <p:spPr>
          <a:xfrm>
            <a:off x="17434142" y="8586690"/>
            <a:ext cx="249123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Martin Fowler Approves!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A1883-372E-339C-BF72-04EB92F7BFE8}"/>
              </a:ext>
            </a:extLst>
          </p:cNvPr>
          <p:cNvSpPr txBox="1"/>
          <p:nvPr/>
        </p:nvSpPr>
        <p:spPr>
          <a:xfrm>
            <a:off x="611188" y="1321118"/>
            <a:ext cx="6785292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Микро-мемы про Микро-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севрисы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3DD87-1163-ADDD-5A5B-5DFB9A802068}"/>
              </a:ext>
            </a:extLst>
          </p:cNvPr>
          <p:cNvSpPr txBox="1"/>
          <p:nvPr/>
        </p:nvSpPr>
        <p:spPr>
          <a:xfrm>
            <a:off x="611188" y="3006195"/>
            <a:ext cx="5650934" cy="3985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2800" dirty="0">
                <a:latin typeface="T-Sans" pitchFamily="2" charset="0"/>
                <a:ea typeface="T-Sans" pitchFamily="2" charset="0"/>
              </a:rPr>
              <a:t>Часть 1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D40A2C4-627F-D509-94A2-7325E33E2F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7" b="11507"/>
          <a:stretch>
            <a:fillRect/>
          </a:stretch>
        </p:blipFill>
        <p:spPr/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5CFF28-20C4-213F-172A-A9B2EE28A08D}"/>
              </a:ext>
            </a:extLst>
          </p:cNvPr>
          <p:cNvSpPr txBox="1"/>
          <p:nvPr/>
        </p:nvSpPr>
        <p:spPr>
          <a:xfrm>
            <a:off x="611188" y="3404766"/>
            <a:ext cx="5650934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 все микро-сервисы в полной мере микро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Классическая проблема, когда переезд на микро-сервисы был предпринят на поздних этапах развития проекта, и так и не взлетел</a:t>
            </a:r>
            <a:r>
              <a:rPr lang="en-US" sz="2400" dirty="0"/>
              <a:t>. 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502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626B-6CD8-F0FF-9EC4-863C360132F9}"/>
              </a:ext>
            </a:extLst>
          </p:cNvPr>
          <p:cNvSpPr txBox="1"/>
          <p:nvPr/>
        </p:nvSpPr>
        <p:spPr>
          <a:xfrm>
            <a:off x="17434142" y="8586690"/>
            <a:ext cx="249123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Martin Fowler Approves!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A1883-372E-339C-BF72-04EB92F7BFE8}"/>
              </a:ext>
            </a:extLst>
          </p:cNvPr>
          <p:cNvSpPr txBox="1"/>
          <p:nvPr/>
        </p:nvSpPr>
        <p:spPr>
          <a:xfrm>
            <a:off x="611188" y="1321118"/>
            <a:ext cx="6785292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Микро-мемы про Микро-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севрисы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3DD87-1163-ADDD-5A5B-5DFB9A802068}"/>
              </a:ext>
            </a:extLst>
          </p:cNvPr>
          <p:cNvSpPr txBox="1"/>
          <p:nvPr/>
        </p:nvSpPr>
        <p:spPr>
          <a:xfrm>
            <a:off x="611188" y="3006195"/>
            <a:ext cx="5650934" cy="3985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2800" dirty="0">
                <a:latin typeface="T-Sans" pitchFamily="2" charset="0"/>
                <a:ea typeface="T-Sans" pitchFamily="2" charset="0"/>
              </a:rPr>
              <a:t>Часть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5CFF28-20C4-213F-172A-A9B2EE28A08D}"/>
              </a:ext>
            </a:extLst>
          </p:cNvPr>
          <p:cNvSpPr txBox="1"/>
          <p:nvPr/>
        </p:nvSpPr>
        <p:spPr>
          <a:xfrm>
            <a:off x="611188" y="3404766"/>
            <a:ext cx="5650934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А что такое микро-сервис?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На сколько маленьким нужно сделать шрифт в редакторе код</a:t>
            </a:r>
            <a:r>
              <a:rPr lang="ru-RU" sz="2400" dirty="0"/>
              <a:t>а, чтобы код стал достаточно микро?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95F346-759E-BBC7-01FA-CFF7A592F4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94888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  <p:pic>
        <p:nvPicPr>
          <p:cNvPr id="21506" name="Picture 2" descr="Dealing with microsservices is a headache : r/ProgrammerHumor">
            <a:extLst>
              <a:ext uri="{FF2B5EF4-FFF2-40B4-BE49-F238E27FC236}">
                <a16:creationId xmlns:a16="http://schemas.microsoft.com/office/drawing/2014/main" id="{11C36E05-C851-83E6-08F8-42782515B5C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20" t="-617" r="-39215" b="-100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D618F8-1AA7-A01B-2BC3-2EF325C8891D}"/>
              </a:ext>
            </a:extLst>
          </p:cNvPr>
          <p:cNvSpPr txBox="1"/>
          <p:nvPr/>
        </p:nvSpPr>
        <p:spPr>
          <a:xfrm>
            <a:off x="611188" y="1321118"/>
            <a:ext cx="6785292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Микро-мемы про Микро-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севрисы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07E1A-97E7-8289-075F-E538EE478942}"/>
              </a:ext>
            </a:extLst>
          </p:cNvPr>
          <p:cNvSpPr txBox="1"/>
          <p:nvPr/>
        </p:nvSpPr>
        <p:spPr>
          <a:xfrm>
            <a:off x="611188" y="3006195"/>
            <a:ext cx="5650934" cy="3985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2800" dirty="0">
                <a:latin typeface="T-Sans" pitchFamily="2" charset="0"/>
                <a:ea typeface="T-Sans" pitchFamily="2" charset="0"/>
              </a:rPr>
              <a:t>Часть </a:t>
            </a:r>
            <a:r>
              <a:rPr lang="en-US" sz="2800" dirty="0">
                <a:latin typeface="T-Sans" pitchFamily="2" charset="0"/>
                <a:ea typeface="T-Sans" pitchFamily="2" charset="0"/>
              </a:rPr>
              <a:t>3</a:t>
            </a:r>
            <a:endParaRPr lang="ru-RU" sz="2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50D99-F221-0586-0BCE-35A1D2EF930F}"/>
              </a:ext>
            </a:extLst>
          </p:cNvPr>
          <p:cNvSpPr txBox="1"/>
          <p:nvPr/>
        </p:nvSpPr>
        <p:spPr>
          <a:xfrm>
            <a:off x="611188" y="3404766"/>
            <a:ext cx="5650934" cy="5632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Иногда микро-сервисы могут стать той еще головной болью!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Не забывайте, что в отличии от монолита, вам нужно будет решить множество дополнительных проблем</a:t>
            </a:r>
            <a:r>
              <a:rPr lang="en-US" sz="2400" dirty="0"/>
              <a:t>: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400" dirty="0"/>
              <a:t>кто отвечает за разработку того или иного сервиса?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400" dirty="0"/>
              <a:t>как сервисы будут взаимодействовать друг с другом?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400" dirty="0"/>
              <a:t>какие задачи решает каждый из сервисов? какие данные ему для этого нужны?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400" dirty="0"/>
              <a:t>логирование и трассировка запросов???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400" dirty="0"/>
              <a:t>и этот список можно продолжать</a:t>
            </a:r>
            <a:r>
              <a:rPr lang="en-US" sz="2400" dirty="0"/>
              <a:t>…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30770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Немножко про собесы</a:t>
            </a:r>
          </a:p>
        </p:txBody>
      </p:sp>
    </p:spTree>
    <p:extLst>
      <p:ext uri="{BB962C8B-B14F-4D97-AF65-F5344CB8AC3E}">
        <p14:creationId xmlns:p14="http://schemas.microsoft.com/office/powerpoint/2010/main" val="2024185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29C948B-2B81-F287-C7E3-DD5937590D5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" b="676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BE0720A0-5D51-FED4-1A40-8D11FB63620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" b="665"/>
          <a:stretch>
            <a:fillRect/>
          </a:stretch>
        </p:blipFill>
        <p:spPr/>
      </p:pic>
      <p:sp>
        <p:nvSpPr>
          <p:cNvPr id="6" name="Дуга 5">
            <a:extLst>
              <a:ext uri="{FF2B5EF4-FFF2-40B4-BE49-F238E27FC236}">
                <a16:creationId xmlns:a16="http://schemas.microsoft.com/office/drawing/2014/main" id="{D81C6773-DB2D-D3E8-CBC3-E47C1BDEA293}"/>
              </a:ext>
            </a:extLst>
          </p:cNvPr>
          <p:cNvSpPr/>
          <p:nvPr/>
        </p:nvSpPr>
        <p:spPr bwMode="auto">
          <a:xfrm flipH="1" flipV="1">
            <a:off x="7796086" y="7990279"/>
            <a:ext cx="1363603" cy="1363603"/>
          </a:xfrm>
          <a:prstGeom prst="arc">
            <a:avLst>
              <a:gd name="adj1" fmla="val 17261151"/>
              <a:gd name="adj2" fmla="val 2706028"/>
            </a:avLst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arrow" w="lg" len="lg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630" tIns="45814" rIns="91630" bIns="45814" numCol="1" spcCol="38100" rtlCol="0" anchor="t">
            <a:noAutofit/>
          </a:bodyPr>
          <a:lstStyle/>
          <a:p>
            <a:pPr defTabSz="916320">
              <a:defRPr/>
            </a:pPr>
            <a:endParaRPr lang="ru-RU" sz="1804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Дуга 9">
            <a:extLst>
              <a:ext uri="{FF2B5EF4-FFF2-40B4-BE49-F238E27FC236}">
                <a16:creationId xmlns:a16="http://schemas.microsoft.com/office/drawing/2014/main" id="{F8CE622A-9AB9-789A-E155-1E8FA8CF6C2B}"/>
              </a:ext>
            </a:extLst>
          </p:cNvPr>
          <p:cNvSpPr/>
          <p:nvPr/>
        </p:nvSpPr>
        <p:spPr bwMode="auto">
          <a:xfrm>
            <a:off x="13973239" y="1723991"/>
            <a:ext cx="1175190" cy="1175190"/>
          </a:xfrm>
          <a:prstGeom prst="arc">
            <a:avLst>
              <a:gd name="adj1" fmla="val 18924109"/>
              <a:gd name="adj2" fmla="val 3936764"/>
            </a:avLst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arrow" w="lg" len="lg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630" tIns="45814" rIns="91630" bIns="45814" numCol="1" spcCol="38100" rtlCol="0" anchor="t">
            <a:noAutofit/>
          </a:bodyPr>
          <a:lstStyle/>
          <a:p>
            <a:pPr defTabSz="916320">
              <a:defRPr/>
            </a:pPr>
            <a:endParaRPr lang="ru-RU" sz="1804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285E2E27-0737-18ED-204A-4826D158D9C3}"/>
              </a:ext>
            </a:extLst>
          </p:cNvPr>
          <p:cNvSpPr/>
          <p:nvPr/>
        </p:nvSpPr>
        <p:spPr bwMode="auto">
          <a:xfrm flipV="1">
            <a:off x="17638947" y="8699773"/>
            <a:ext cx="1363603" cy="1363603"/>
          </a:xfrm>
          <a:prstGeom prst="arc">
            <a:avLst>
              <a:gd name="adj1" fmla="val 17814735"/>
              <a:gd name="adj2" fmla="val 2706028"/>
            </a:avLst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arrow" w="lg" len="lg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630" tIns="45814" rIns="91630" bIns="45814" numCol="1" spcCol="38100" rtlCol="0" anchor="t">
            <a:noAutofit/>
          </a:bodyPr>
          <a:lstStyle/>
          <a:p>
            <a:pPr defTabSz="916320">
              <a:defRPr/>
            </a:pPr>
            <a:endParaRPr lang="ru-RU" sz="1804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35D5C-B720-ECE6-EEF7-2D52884F6B37}"/>
              </a:ext>
            </a:extLst>
          </p:cNvPr>
          <p:cNvSpPr txBox="1"/>
          <p:nvPr/>
        </p:nvSpPr>
        <p:spPr>
          <a:xfrm>
            <a:off x="8426052" y="9164230"/>
            <a:ext cx="250378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dirty="0" err="1">
                <a:latin typeface="T-Sans Medium" pitchFamily="2" charset="0"/>
                <a:ea typeface="T-Sans" pitchFamily="2" charset="0"/>
              </a:rPr>
              <a:t>Литерали</a:t>
            </a:r>
            <a:r>
              <a:rPr lang="ru-RU" dirty="0">
                <a:latin typeface="T-Sans Medium" pitchFamily="2" charset="0"/>
                <a:ea typeface="T-Sans" pitchFamily="2" charset="0"/>
              </a:rPr>
              <a:t> ми?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5DDAD-D430-FAD4-23C8-FA00882BBBEA}"/>
              </a:ext>
            </a:extLst>
          </p:cNvPr>
          <p:cNvSpPr txBox="1"/>
          <p:nvPr/>
        </p:nvSpPr>
        <p:spPr>
          <a:xfrm>
            <a:off x="12221586" y="1586705"/>
            <a:ext cx="2503788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А этот мем я украл из </a:t>
            </a:r>
            <a:r>
              <a:rPr lang="en-US" dirty="0">
                <a:latin typeface="T-Sans Medium" pitchFamily="2" charset="0"/>
                <a:ea typeface="T-Sans" pitchFamily="2" charset="0"/>
              </a:rPr>
              <a:t>LinkedIn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DD0F4-44DA-52ED-944A-68342FD177E6}"/>
              </a:ext>
            </a:extLst>
          </p:cNvPr>
          <p:cNvSpPr txBox="1"/>
          <p:nvPr/>
        </p:nvSpPr>
        <p:spPr>
          <a:xfrm>
            <a:off x="16387053" y="9381574"/>
            <a:ext cx="2503788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И этот мем тоже</a:t>
            </a:r>
            <a:r>
              <a:rPr lang="en-US" dirty="0">
                <a:latin typeface="T-Sans Medium" pitchFamily="2" charset="0"/>
                <a:ea typeface="T-Sans" pitchFamily="2" charset="0"/>
              </a:rPr>
              <a:t>…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B56B1C-8A66-9BAF-9ED8-BB5198A69C32}"/>
              </a:ext>
            </a:extLst>
          </p:cNvPr>
          <p:cNvSpPr txBox="1"/>
          <p:nvPr/>
        </p:nvSpPr>
        <p:spPr>
          <a:xfrm>
            <a:off x="611188" y="556966"/>
            <a:ext cx="5957563" cy="51752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Требование к должности</a:t>
            </a:r>
            <a:r>
              <a:rPr lang="en-US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опыт работы с </a:t>
            </a:r>
            <a:r>
              <a:rPr lang="en-US" dirty="0">
                <a:latin typeface="T-Sans" pitchFamily="2" charset="0"/>
                <a:ea typeface="T-Sans" pitchFamily="2" charset="0"/>
              </a:rPr>
              <a:t>Rust 20+ </a:t>
            </a:r>
            <a:r>
              <a:rPr lang="ru-RU" dirty="0">
                <a:latin typeface="T-Sans" pitchFamily="2" charset="0"/>
                <a:ea typeface="T-Sans" pitchFamily="2" charset="0"/>
              </a:rPr>
              <a:t>лет…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en-US" sz="3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3600" dirty="0">
                <a:latin typeface="T-Sans" pitchFamily="2" charset="0"/>
                <a:ea typeface="T-Sans" pitchFamily="2" charset="0"/>
              </a:rPr>
              <a:t>кандидату 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20 </a:t>
            </a:r>
            <a:r>
              <a:rPr lang="ru-RU" sz="3600" dirty="0">
                <a:latin typeface="T-Sans" pitchFamily="2" charset="0"/>
                <a:ea typeface="T-Sans" pitchFamily="2" charset="0"/>
              </a:rPr>
              <a:t>лет…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, </a:t>
            </a:r>
            <a:r>
              <a:rPr lang="ru-RU" sz="3600" dirty="0">
                <a:latin typeface="T-Sans" pitchFamily="2" charset="0"/>
                <a:ea typeface="T-Sans" pitchFamily="2" charset="0"/>
              </a:rPr>
              <a:t>а 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rust’</a:t>
            </a:r>
            <a:r>
              <a:rPr lang="ru-RU" sz="3600" dirty="0">
                <a:latin typeface="T-Sans" pitchFamily="2" charset="0"/>
                <a:ea typeface="T-Sans" pitchFamily="2" charset="0"/>
              </a:rPr>
              <a:t>у и того меньше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)</a:t>
            </a:r>
            <a:endParaRPr lang="ru-RU" sz="3600" dirty="0">
              <a:latin typeface="T-Sans" pitchFamily="2" charset="0"/>
              <a:ea typeface="T-Sans" pitchFamily="2" charset="0"/>
            </a:endParaRPr>
          </a:p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B7662B-F2A4-693E-EDA5-E528BF32F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</p:spPr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23</a:t>
            </a:fld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299CAA6-A5CD-2A3D-DFDE-0939FA1182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0" r="153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55936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От стажера до пасечника – рукой подать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6245E-2EDB-213B-7ED4-A3BFAE18BD58}"/>
              </a:ext>
            </a:extLst>
          </p:cNvPr>
          <p:cNvSpPr txBox="1"/>
          <p:nvPr/>
        </p:nvSpPr>
        <p:spPr>
          <a:xfrm>
            <a:off x="611188" y="3837191"/>
            <a:ext cx="565093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Я сам после этого мероприятия поеду на дачу сажать огурцы и помидоры</a:t>
            </a:r>
            <a:r>
              <a:rPr lang="en-US" sz="2400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626B-6CD8-F0FF-9EC4-863C360132F9}"/>
              </a:ext>
            </a:extLst>
          </p:cNvPr>
          <p:cNvSpPr txBox="1"/>
          <p:nvPr/>
        </p:nvSpPr>
        <p:spPr>
          <a:xfrm>
            <a:off x="17434142" y="8586690"/>
            <a:ext cx="249123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Martin Fowler Approves!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6E9C4D2-F40E-519C-1CD4-153E498873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54" t="56" r="-5370"/>
          <a:stretch/>
        </p:blipFill>
        <p:spPr>
          <a:xfrm>
            <a:off x="8581569" y="1274243"/>
            <a:ext cx="11229161" cy="7650999"/>
          </a:xfrm>
        </p:spPr>
      </p:pic>
    </p:spTree>
    <p:extLst>
      <p:ext uri="{BB962C8B-B14F-4D97-AF65-F5344CB8AC3E}">
        <p14:creationId xmlns:p14="http://schemas.microsoft.com/office/powerpoint/2010/main" val="3954521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AF00E7C-99D2-0DF4-DBDC-8EA0E45BF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25</a:t>
            </a:fld>
            <a:endParaRPr lang="ru-RU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5F71B09-B4AA-9914-B564-1377723326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3" r="22493"/>
          <a:stretch>
            <a:fillRect/>
          </a:stretch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8087CD-A50E-96A5-D3C3-40CA042A5F37}"/>
              </a:ext>
            </a:extLst>
          </p:cNvPr>
          <p:cNvSpPr txBox="1"/>
          <p:nvPr/>
        </p:nvSpPr>
        <p:spPr>
          <a:xfrm>
            <a:off x="611188" y="552968"/>
            <a:ext cx="5804176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Среднестатистическая задача на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алго</a:t>
            </a:r>
            <a:r>
              <a:rPr lang="ru-RU" dirty="0">
                <a:latin typeface="T-Sans" pitchFamily="2" charset="0"/>
                <a:ea typeface="T-Sans" pitchFamily="2" charset="0"/>
              </a:rPr>
              <a:t>-собесе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0E5A0-4DB4-BFB8-178B-71A967A595D9}"/>
              </a:ext>
            </a:extLst>
          </p:cNvPr>
          <p:cNvSpPr txBox="1"/>
          <p:nvPr/>
        </p:nvSpPr>
        <p:spPr>
          <a:xfrm>
            <a:off x="611188" y="2910993"/>
            <a:ext cx="5912983" cy="4601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6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Ее боялись даже </a:t>
            </a:r>
            <a:r>
              <a:rPr lang="ru-RU" sz="2600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олимпиадники</a:t>
            </a:r>
            <a:r>
              <a:rPr lang="en-US" sz="26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… </a:t>
            </a:r>
            <a:endParaRPr lang="ru-RU" sz="26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6958E194-8A90-D5BE-8882-33EAC7928D65}"/>
              </a:ext>
            </a:extLst>
          </p:cNvPr>
          <p:cNvSpPr/>
          <p:nvPr/>
        </p:nvSpPr>
        <p:spPr>
          <a:xfrm>
            <a:off x="13797643" y="7707086"/>
            <a:ext cx="4541826" cy="1208314"/>
          </a:xfrm>
          <a:prstGeom prst="roundRect">
            <a:avLst>
              <a:gd name="adj" fmla="val 28829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0" rIns="180000" bIns="0" numCol="1" spcCol="38100" rtlCol="0" anchor="ctr">
            <a:noAutofit/>
          </a:bodyPr>
          <a:lstStyle/>
          <a:p>
            <a:pPr defTabSz="457200"/>
            <a:r>
              <a:rPr lang="ru-RU" sz="24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Тут должен быть смешной текст, но я не придумал </a:t>
            </a:r>
            <a:r>
              <a:rPr lang="en-US" sz="24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</a:t>
            </a:r>
            <a:endParaRPr lang="ru-RU" sz="24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812B0BE-66B9-90C7-72FB-6124CEA03599}"/>
              </a:ext>
            </a:extLst>
          </p:cNvPr>
          <p:cNvSpPr/>
          <p:nvPr/>
        </p:nvSpPr>
        <p:spPr>
          <a:xfrm>
            <a:off x="13275129" y="3265714"/>
            <a:ext cx="3469079" cy="1341889"/>
          </a:xfrm>
          <a:prstGeom prst="roundRect">
            <a:avLst>
              <a:gd name="adj" fmla="val 26126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0" rIns="180000" bIns="0" numCol="1" spcCol="38100" rtlCol="0" anchor="ctr">
            <a:noAutofit/>
          </a:bodyPr>
          <a:lstStyle/>
          <a:p>
            <a:pPr defTabSz="457200"/>
            <a:r>
              <a:rPr lang="ru-RU" sz="24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Кто этот ваш стандартный ввод? Куда </a:t>
            </a:r>
            <a:r>
              <a:rPr lang="ru-RU" sz="2400" b="1" dirty="0" err="1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жмакать</a:t>
            </a:r>
            <a:r>
              <a:rPr lang="ru-RU" sz="24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?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0C1B3BE-7F06-81DB-55C9-1E2F5A4651FF}"/>
              </a:ext>
            </a:extLst>
          </p:cNvPr>
          <p:cNvSpPr/>
          <p:nvPr/>
        </p:nvSpPr>
        <p:spPr>
          <a:xfrm>
            <a:off x="1730980" y="8311243"/>
            <a:ext cx="4180114" cy="1208314"/>
          </a:xfrm>
          <a:prstGeom prst="roundRect">
            <a:avLst>
              <a:gd name="adj" fmla="val 315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0" rIns="180000" bIns="0" numCol="1" spcCol="38100" rtlCol="0" anchor="ctr">
            <a:noAutofit/>
          </a:bodyPr>
          <a:lstStyle/>
          <a:p>
            <a:pPr defTabSz="457200"/>
            <a:r>
              <a:rPr lang="ru-RU" sz="24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Среднестатистический диалог между мной и собеседующим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3FA5C80-EE98-6B2B-A877-D42C9BE4188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11094" y="8915400"/>
            <a:ext cx="2057249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solid"/>
            <a:miter lim="800000"/>
            <a:tailEnd type="oval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4A9DE92-77B4-87AF-ADA8-E9AD0780E04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1740394" y="8311243"/>
            <a:ext cx="2057249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solid"/>
            <a:miter lim="800000"/>
            <a:tailEnd type="oval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34DDD42-BB0C-4BD8-207A-B12DBD36610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1740394" y="3869872"/>
            <a:ext cx="1534735" cy="66787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solid"/>
            <a:miter lim="800000"/>
            <a:tailEnd type="oval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777768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26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7" y="1321118"/>
            <a:ext cx="6834641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Заряжаемся успехом перед собеседованием</a:t>
            </a:r>
            <a:r>
              <a:rPr lang="en-US" dirty="0">
                <a:latin typeface="T-Sans" pitchFamily="2" charset="0"/>
                <a:ea typeface="T-Sans" pitchFamily="2" charset="0"/>
              </a:rPr>
              <a:t>!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626B-6CD8-F0FF-9EC4-863C360132F9}"/>
              </a:ext>
            </a:extLst>
          </p:cNvPr>
          <p:cNvSpPr txBox="1"/>
          <p:nvPr/>
        </p:nvSpPr>
        <p:spPr>
          <a:xfrm>
            <a:off x="17434142" y="8586690"/>
            <a:ext cx="249123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Martin Fowler Approves!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E5816-C5C9-4E0B-A1AF-9E706EAC29F0}"/>
              </a:ext>
            </a:extLst>
          </p:cNvPr>
          <p:cNvSpPr txBox="1"/>
          <p:nvPr/>
        </p:nvSpPr>
        <p:spPr>
          <a:xfrm>
            <a:off x="611188" y="3713778"/>
            <a:ext cx="7543767" cy="1529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Как говорится</a:t>
            </a:r>
            <a:r>
              <a:rPr lang="en-US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: </a:t>
            </a:r>
            <a:r>
              <a:rPr lang="en-US" sz="2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”</a:t>
            </a:r>
            <a:r>
              <a:rPr lang="ru-RU" sz="2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потри кота за лапки, чтобы были бабки</a:t>
            </a:r>
            <a:r>
              <a:rPr lang="en-US" sz="2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”</a:t>
            </a:r>
            <a:r>
              <a:rPr lang="ru-RU" sz="28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! Повторяйте эту мантру перед каждым собеседованием и у вас все получится!</a:t>
            </a:r>
          </a:p>
        </p:txBody>
      </p:sp>
      <p:pic>
        <p:nvPicPr>
          <p:cNvPr id="6" name="Picture Placeholder 9">
            <a:extLst>
              <a:ext uri="{FF2B5EF4-FFF2-40B4-BE49-F238E27FC236}">
                <a16:creationId xmlns:a16="http://schemas.microsoft.com/office/drawing/2014/main" id="{6C9232D2-A569-2F36-966A-E03220D50B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642" t="-616" r="-36683" b="-1"/>
          <a:stretch/>
        </p:blipFill>
        <p:spPr>
          <a:xfrm>
            <a:off x="8581569" y="1274243"/>
            <a:ext cx="11229161" cy="7650999"/>
          </a:xfrm>
        </p:spPr>
      </p:pic>
    </p:spTree>
    <p:extLst>
      <p:ext uri="{BB962C8B-B14F-4D97-AF65-F5344CB8AC3E}">
        <p14:creationId xmlns:p14="http://schemas.microsoft.com/office/powerpoint/2010/main" val="15025309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449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Блиц мемов про ИИ!</a:t>
            </a:r>
            <a:endParaRPr lang="en-US" sz="80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  <a:p>
            <a:r>
              <a:rPr lang="ru-RU" sz="24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Куда нынче без ИИ…</a:t>
            </a:r>
          </a:p>
        </p:txBody>
      </p:sp>
    </p:spTree>
    <p:extLst>
      <p:ext uri="{BB962C8B-B14F-4D97-AF65-F5344CB8AC3E}">
        <p14:creationId xmlns:p14="http://schemas.microsoft.com/office/powerpoint/2010/main" val="1090909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28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 err="1">
                <a:latin typeface="T-Sans" pitchFamily="2" charset="0"/>
                <a:ea typeface="T-Sans" pitchFamily="2" charset="0"/>
              </a:rPr>
              <a:t>PrOmPt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EngInEEr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6245E-2EDB-213B-7ED4-A3BFAE18BD58}"/>
              </a:ext>
            </a:extLst>
          </p:cNvPr>
          <p:cNvSpPr txBox="1"/>
          <p:nvPr/>
        </p:nvSpPr>
        <p:spPr>
          <a:xfrm>
            <a:off x="611188" y="3006195"/>
            <a:ext cx="5650934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Очень рекомендую посмотреть мои </a:t>
            </a:r>
            <a:r>
              <a:rPr lang="ru-RU" sz="2400" dirty="0" err="1"/>
              <a:t>треды</a:t>
            </a:r>
            <a:r>
              <a:rPr lang="ru-RU" sz="2400" dirty="0"/>
              <a:t> с </a:t>
            </a:r>
            <a:r>
              <a:rPr lang="en-US" sz="2400" dirty="0"/>
              <a:t>Claude,</a:t>
            </a:r>
            <a:r>
              <a:rPr lang="ru-RU" sz="2400" dirty="0"/>
              <a:t> в которых я его слезно молю переписать код бота, чтобы он был почище…</a:t>
            </a:r>
            <a:endParaRPr lang="en-US" sz="2400" dirty="0"/>
          </a:p>
        </p:txBody>
      </p:sp>
      <p:pic>
        <p:nvPicPr>
          <p:cNvPr id="26628" name="Picture 4" descr="plsBroJustGiveMejsonBro : r/ProgrammerHumor">
            <a:extLst>
              <a:ext uri="{FF2B5EF4-FFF2-40B4-BE49-F238E27FC236}">
                <a16:creationId xmlns:a16="http://schemas.microsoft.com/office/drawing/2014/main" id="{B89AD849-6C42-26D6-AEF6-2A5E037CC7FE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" t="-11665" r="3708" b="-10803"/>
          <a:stretch/>
        </p:blipFill>
        <p:spPr bwMode="auto">
          <a:xfrm>
            <a:off x="8570139" y="1321118"/>
            <a:ext cx="11229161" cy="76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3561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29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 err="1">
                <a:latin typeface="T-Sans" pitchFamily="2" charset="0"/>
                <a:ea typeface="T-Sans" pitchFamily="2" charset="0"/>
              </a:rPr>
              <a:t>ChatGPT</a:t>
            </a:r>
            <a:r>
              <a:rPr lang="en-US" dirty="0">
                <a:latin typeface="T-Sans" pitchFamily="2" charset="0"/>
                <a:ea typeface="T-Sans" pitchFamily="2" charset="0"/>
              </a:rPr>
              <a:t> be like…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6245E-2EDB-213B-7ED4-A3BFAE18BD58}"/>
              </a:ext>
            </a:extLst>
          </p:cNvPr>
          <p:cNvSpPr txBox="1"/>
          <p:nvPr/>
        </p:nvSpPr>
        <p:spPr>
          <a:xfrm>
            <a:off x="611188" y="3006195"/>
            <a:ext cx="5650934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И еще одна рекомендация – проверяйте, что вам выдает ИИ. Он может ошибаться. Но и свою точку зрения он отстаивать не умеет</a:t>
            </a:r>
            <a:r>
              <a:rPr lang="en-US" sz="2400" dirty="0"/>
              <a:t>…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E6ABE60-C323-E2D6-8BA2-E2D2BFE549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4827" r="-102" b="21515"/>
          <a:stretch/>
        </p:blipFill>
        <p:spPr>
          <a:xfrm>
            <a:off x="8581569" y="1274243"/>
            <a:ext cx="11229161" cy="7650999"/>
          </a:xfrm>
        </p:spPr>
      </p:pic>
    </p:spTree>
    <p:extLst>
      <p:ext uri="{BB962C8B-B14F-4D97-AF65-F5344CB8AC3E}">
        <p14:creationId xmlns:p14="http://schemas.microsoft.com/office/powerpoint/2010/main" val="3180573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30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RU" dirty="0"/>
              <a:t>$$$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6245E-2EDB-213B-7ED4-A3BFAE18BD58}"/>
              </a:ext>
            </a:extLst>
          </p:cNvPr>
          <p:cNvSpPr txBox="1"/>
          <p:nvPr/>
        </p:nvSpPr>
        <p:spPr>
          <a:xfrm>
            <a:off x="611188" y="2175198"/>
            <a:ext cx="565093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Классика жанра в современной обработке</a:t>
            </a:r>
            <a:r>
              <a:rPr lang="en-US" sz="2400" dirty="0"/>
              <a:t>…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B1CDCA0-AA6C-AF36-F6DD-8E00F63DE0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" b="201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58150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3003461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939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51405</TotalTime>
  <Words>2136</Words>
  <Application>Microsoft Macintosh PowerPoint</Application>
  <PresentationFormat>Custom</PresentationFormat>
  <Paragraphs>207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Tinkoff Sans</vt:lpstr>
      <vt:lpstr>Wingdings</vt:lpstr>
      <vt:lpstr>Helvetica Neue</vt:lpstr>
      <vt:lpstr>T-Sans Medium</vt:lpstr>
      <vt:lpstr>Arial</vt:lpstr>
      <vt:lpstr>T-Sans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1137</cp:revision>
  <dcterms:modified xsi:type="dcterms:W3CDTF">2026-07-30T14:24:02Z</dcterms:modified>
</cp:coreProperties>
</file>